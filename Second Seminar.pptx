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9" r:id="rId5"/>
    <p:sldId id="260" r:id="rId6"/>
    <p:sldId id="258" r:id="rId7"/>
    <p:sldId id="264" r:id="rId8"/>
    <p:sldId id="261" r:id="rId9"/>
    <p:sldId id="269" r:id="rId10"/>
    <p:sldId id="266" r:id="rId11"/>
    <p:sldId id="268" r:id="rId12"/>
    <p:sldId id="263" r:id="rId13"/>
    <p:sldId id="267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7615" autoAdjust="0"/>
  </p:normalViewPr>
  <p:slideViewPr>
    <p:cSldViewPr snapToGrid="0">
      <p:cViewPr varScale="1">
        <p:scale>
          <a:sx n="73" d="100"/>
          <a:sy n="73" d="100"/>
        </p:scale>
        <p:origin x="1104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B7CF8B-F8D0-4180-AE6D-6206B90572D0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2C11D-F02A-434B-A80B-1DF0DEB221F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B7CF8B-F8D0-4180-AE6D-6206B90572D0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2C11D-F02A-434B-A80B-1DF0DEB221F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B7CF8B-F8D0-4180-AE6D-6206B90572D0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2C11D-F02A-434B-A80B-1DF0DEB221F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B7CF8B-F8D0-4180-AE6D-6206B90572D0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2C11D-F02A-434B-A80B-1DF0DEB221F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B7CF8B-F8D0-4180-AE6D-6206B90572D0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2C11D-F02A-434B-A80B-1DF0DEB221F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B7CF8B-F8D0-4180-AE6D-6206B90572D0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2C11D-F02A-434B-A80B-1DF0DEB221F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B7CF8B-F8D0-4180-AE6D-6206B90572D0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2C11D-F02A-434B-A80B-1DF0DEB221F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B7CF8B-F8D0-4180-AE6D-6206B90572D0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2C11D-F02A-434B-A80B-1DF0DEB221F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B7CF8B-F8D0-4180-AE6D-6206B90572D0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2C11D-F02A-434B-A80B-1DF0DEB221F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B7CF8B-F8D0-4180-AE6D-6206B90572D0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2C11D-F02A-434B-A80B-1DF0DEB221F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B7CF8B-F8D0-4180-AE6D-6206B90572D0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2C11D-F02A-434B-A80B-1DF0DEB221F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EB7CF8B-F8D0-4180-AE6D-6206B90572D0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E72C11D-F02A-434B-A80B-1DF0DEB221F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ctrTitle"/>
          </p:nvPr>
        </p:nvSpPr>
        <p:spPr>
          <a:xfrm>
            <a:off x="7567566" y="51977"/>
            <a:ext cx="4519930" cy="1898015"/>
          </a:xfrm>
        </p:spPr>
        <p:txBody>
          <a:bodyPr>
            <a:normAutofit fontScale="90000"/>
          </a:bodyPr>
          <a:lstStyle/>
          <a:p>
            <a:r>
              <a:rPr lang="en-US" altLang="en-US" sz="289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Syrian Private University</a:t>
            </a:r>
            <a:br>
              <a:rPr lang="en-US" altLang="en-US" sz="289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289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faculty of Artificial Intelligence Engineering </a:t>
            </a:r>
            <a:br>
              <a:rPr lang="en-US" altLang="en-US" sz="289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289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Telecommunication Engineering</a:t>
            </a:r>
            <a:endParaRPr lang="en-US" altLang="en-US" sz="289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ubtitle 2"/>
          <p:cNvSpPr>
            <a:spLocks noGrp="1"/>
          </p:cNvSpPr>
          <p:nvPr>
            <p:ph type="subTitle" idx="1"/>
          </p:nvPr>
        </p:nvSpPr>
        <p:spPr>
          <a:xfrm>
            <a:off x="1711325" y="2212796"/>
            <a:ext cx="9144000" cy="1655762"/>
          </a:xfrm>
        </p:spPr>
        <p:txBody>
          <a:bodyPr>
            <a:normAutofit lnSpcReduction="10000"/>
          </a:bodyPr>
          <a:lstStyle/>
          <a:p>
            <a:pPr>
              <a:lnSpc>
                <a:spcPct val="110000"/>
              </a:lnSpc>
            </a:pPr>
            <a:r>
              <a:rPr lang="en-US" alt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Title:</a:t>
            </a:r>
            <a:endParaRPr lang="en-US" alt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0000"/>
              </a:lnSpc>
            </a:pP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Simulation-Based Model Design for High-Performance 5G  Networks</a:t>
            </a:r>
            <a:endParaRPr lang="en-US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4" descr="download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3680" y="221479"/>
            <a:ext cx="1182370" cy="1044575"/>
          </a:xfrm>
          <a:prstGeom prst="rect">
            <a:avLst/>
          </a:prstGeom>
        </p:spPr>
      </p:pic>
      <p:sp>
        <p:nvSpPr>
          <p:cNvPr id="9" name="Text Box 4"/>
          <p:cNvSpPr txBox="1"/>
          <p:nvPr/>
        </p:nvSpPr>
        <p:spPr>
          <a:xfrm>
            <a:off x="3602355" y="5427889"/>
            <a:ext cx="5361940" cy="152908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>
              <a:lnSpc>
                <a:spcPct val="70000"/>
              </a:lnSpc>
            </a:pPr>
            <a:r>
              <a:rPr lang="en-US" alt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Prepared By</a:t>
            </a:r>
            <a:endParaRPr lang="en-US" altLang="en-US" sz="2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70000"/>
              </a:lnSpc>
            </a:pPr>
            <a:endParaRPr lang="en-US" altLang="en-US" sz="2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70000"/>
              </a:lnSpc>
            </a:pPr>
            <a:r>
              <a:rPr lang="en-US" altLang="en-US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MHD.Nour</a:t>
            </a:r>
            <a:r>
              <a:rPr lang="en-US" alt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Najeeb</a:t>
            </a:r>
            <a:endParaRPr lang="en-US" altLang="en-US" sz="2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70000"/>
              </a:lnSpc>
            </a:pPr>
            <a:endParaRPr lang="en-US" altLang="en-US" sz="2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70000"/>
              </a:lnSpc>
            </a:pPr>
            <a:r>
              <a:rPr lang="en-US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LaithAbdAlrazek</a:t>
            </a:r>
            <a:endParaRPr lang="en-US" altLang="en-US" sz="2000" b="1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0" name="Text Box 5"/>
          <p:cNvSpPr txBox="1"/>
          <p:nvPr/>
        </p:nvSpPr>
        <p:spPr>
          <a:xfrm>
            <a:off x="5038090" y="4453597"/>
            <a:ext cx="2490470" cy="87605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>
              <a:lnSpc>
                <a:spcPct val="80000"/>
              </a:lnSpc>
            </a:pPr>
            <a:r>
              <a:rPr lang="en-US" alt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Supervisor</a:t>
            </a:r>
            <a:endParaRPr lang="en-US" altLang="en-US" sz="2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80000"/>
              </a:lnSpc>
            </a:pP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Dr. Rawad Melhem</a:t>
            </a:r>
            <a:endParaRPr lang="en-US" altLang="en-US" sz="2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prism isInverted="1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Outline</a:t>
            </a:r>
            <a:endParaRPr lang="en-GB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Statement.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objective.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Theoretical Fundamentals.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 Summary</a:t>
            </a:r>
            <a:r>
              <a:rPr lang="en-US" alt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Plan</a:t>
            </a:r>
            <a:r>
              <a:rPr lang="en-US" alt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alt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Simulation &amp; resulte.</a:t>
            </a:r>
            <a:endParaRPr lang="en-US" alt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prism isInverted="1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GB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lnSpc>
                <a:spcPct val="150000"/>
              </a:lnSpc>
              <a:buNone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resource management in 5G cannot effectively handle the different and conflicting requirements of services like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eMBB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URLLC, and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mMTC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at the same time.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prism isInverted="1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82243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GB" sz="4000" b="1" dirty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Objective&amp;</a:t>
            </a:r>
            <a:r>
              <a:rPr lang="en-US" sz="4000" b="1" dirty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Project Importance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730833"/>
            <a:ext cx="9548948" cy="1325563"/>
          </a:xfrm>
        </p:spPr>
        <p:txBody>
          <a:bodyPr/>
          <a:lstStyle/>
          <a:p>
            <a:pPr marL="0" indent="0">
              <a:lnSpc>
                <a:spcPct val="110000"/>
              </a:lnSpc>
              <a:buNone/>
            </a:pPr>
            <a:r>
              <a:rPr lang="en-GB" b="1" dirty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Objective</a:t>
            </a:r>
            <a:endParaRPr lang="en-US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0180" indent="0">
              <a:lnSpc>
                <a:spcPct val="110000"/>
              </a:lnSpc>
              <a:buNone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Simulation-Based Model Design for High-Performance 5G  Networks.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38200" y="3334213"/>
            <a:ext cx="10683240" cy="25976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Bef>
                <a:spcPts val="1000"/>
              </a:spcBef>
              <a:spcAft>
                <a:spcPts val="1200"/>
              </a:spcAft>
            </a:pPr>
            <a:r>
              <a:rPr lang="en-US" sz="2800" b="1" dirty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Importance</a:t>
            </a:r>
            <a:endParaRPr lang="en-US" sz="2800" b="1" dirty="0">
              <a:solidFill>
                <a:srgbClr val="0F111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0180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Resource Optimization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0180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Enabling Critical Applications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0180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Foundation for Industry 4.0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prism isInverted="1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Theoretical Fundamentals (1/</a:t>
            </a:r>
            <a:r>
              <a:rPr lang="ar-SA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67543"/>
            <a:ext cx="10515600" cy="4609420"/>
          </a:xfrm>
        </p:spPr>
        <p:txBody>
          <a:bodyPr>
            <a:normAutofit lnSpcReduction="10000"/>
          </a:bodyPr>
          <a:lstStyle/>
          <a:p>
            <a:pPr marL="0" indent="0" algn="ctr">
              <a:buNone/>
            </a:pPr>
            <a:r>
              <a:rPr lang="en-GB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5G is not just "faster 4G." </a:t>
            </a:r>
            <a:endParaRPr lang="en-GB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5G supports three main service categories with conflicting requirements:</a:t>
            </a:r>
            <a:endParaRPr lang="en-GB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GB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eMBB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high bandwidth and data rates.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URLLC: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low latency and high reliability.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GB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mMTC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massive device connectivity.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prism isInverted="1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Theoretical Fundamentals (2/</a:t>
            </a:r>
            <a:r>
              <a:rPr lang="ar-SA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67543"/>
            <a:ext cx="10515600" cy="460942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Network Slicing:</a:t>
            </a:r>
            <a:endParaRPr lang="en-GB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key 5G feature that enables these three services to coexist on the same physical hardware.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creates isolated logical networks (slices) with customized resource allocation per service.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prism isInverted="1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53568"/>
            <a:ext cx="10515600" cy="755904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Theoretical Fundamentals (</a:t>
            </a:r>
            <a:r>
              <a:rPr lang="ar-SA" alt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3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/</a:t>
            </a:r>
            <a:r>
              <a:rPr lang="ar-SA" alt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3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025396" y="1830725"/>
          <a:ext cx="10853928" cy="45649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13482"/>
                <a:gridCol w="3660270"/>
                <a:gridCol w="1766694"/>
              </a:tblGrid>
              <a:tr h="538962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eMBB</a:t>
                      </a:r>
                      <a:endPara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uRLLC</a:t>
                      </a:r>
                      <a:endParaRPr lang="en-US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mMTC</a:t>
                      </a:r>
                      <a:endParaRPr lang="en-US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1414146">
                <a:tc>
                  <a:txBody>
                    <a:bodyPr/>
                    <a:lstStyle/>
                    <a:p>
                      <a:pPr algn="ctr"/>
                      <a:r>
                        <a:rPr lang="en-US" alt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Peak Data Rate</a:t>
                      </a:r>
                      <a:endParaRPr lang="en-US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Latency</a:t>
                      </a:r>
                      <a:endParaRPr lang="en-US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30000"/>
                        </a:lnSpc>
                        <a:buNone/>
                      </a:pPr>
                      <a:r>
                        <a:rPr lang="en-US" alt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Connection Density</a:t>
                      </a:r>
                      <a:endParaRPr lang="en-US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1197652">
                <a:tc>
                  <a:txBody>
                    <a:bodyPr/>
                    <a:lstStyle/>
                    <a:p>
                      <a:pPr algn="ctr"/>
                      <a:r>
                        <a:rPr lang="en-US" alt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User Experienced Data Rate</a:t>
                      </a:r>
                      <a:endParaRPr lang="en-US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Reliability</a:t>
                      </a:r>
                      <a:endParaRPr lang="en-US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Network Energy Efficiency</a:t>
                      </a:r>
                      <a:endParaRPr lang="en-US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1414146">
                <a:tc>
                  <a:txBody>
                    <a:bodyPr/>
                    <a:lstStyle/>
                    <a:p>
                      <a:pPr algn="ctr"/>
                      <a:r>
                        <a:rPr lang="en-US" alt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Spectral Efficiency</a:t>
                      </a:r>
                      <a:endParaRPr lang="en-US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Mobility</a:t>
                      </a:r>
                      <a:endParaRPr lang="en-US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3" name="Text Box 2"/>
          <p:cNvSpPr txBox="1"/>
          <p:nvPr/>
        </p:nvSpPr>
        <p:spPr>
          <a:xfrm>
            <a:off x="237490" y="1285875"/>
            <a:ext cx="232664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800"/>
              <a:t>KPIs </a:t>
            </a:r>
            <a:r>
              <a:rPr lang="en-US"/>
              <a:t>:</a:t>
            </a:r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prism isInverted="1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53568"/>
            <a:ext cx="10515600" cy="755904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69036" y="1518305"/>
          <a:ext cx="10853928" cy="45649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13482"/>
                <a:gridCol w="2713482"/>
                <a:gridCol w="3660270"/>
                <a:gridCol w="1766694"/>
              </a:tblGrid>
              <a:tr h="538962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Paper reference</a:t>
                      </a:r>
                      <a:endPara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principle</a:t>
                      </a:r>
                      <a:endPara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methodology</a:t>
                      </a:r>
                      <a:endPara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simulator</a:t>
                      </a:r>
                      <a:endPara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1414146">
                <a:tc>
                  <a:txBody>
                    <a:bodyPr/>
                    <a:lstStyle/>
                    <a:p>
                      <a:pPr algn="l" rtl="0"/>
                      <a:r>
                        <a:rPr lang="en-US" sz="2000" b="1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[1] </a:t>
                      </a:r>
                      <a:r>
                        <a:rPr lang="en-US" sz="2000" b="1" i="0" kern="1200" dirty="0" err="1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Ochonu</a:t>
                      </a:r>
                      <a:r>
                        <a:rPr lang="en-US" sz="2000" b="1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&amp; Vidal, 2024</a:t>
                      </a:r>
                      <a:endPara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2000" b="1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Smart Factory</a:t>
                      </a:r>
                      <a:br>
                        <a:rPr lang="en-GB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GB" sz="20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Slice-aware Resource Allocation</a:t>
                      </a:r>
                      <a:endPara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GB" sz="20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Slicing with admission control protects critical URLLC traffic from </a:t>
                      </a:r>
                      <a:r>
                        <a:rPr lang="en-GB" sz="2000" b="0" i="0" kern="1200" dirty="0" err="1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eMBB</a:t>
                      </a:r>
                      <a:r>
                        <a:rPr lang="en-GB" sz="20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congestion.</a:t>
                      </a:r>
                      <a:endPara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30000"/>
                        </a:lnSpc>
                        <a:buNone/>
                      </a:pP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 </a:t>
                      </a: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Custom MATLAB-based simulator.</a:t>
                      </a:r>
                      <a:endParaRPr 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indent="0" algn="l">
                        <a:lnSpc>
                          <a:spcPct val="130000"/>
                        </a:lnSpc>
                        <a:buNone/>
                      </a:pPr>
                      <a:endParaRPr lang="en-US" altLang="en-US" sz="2000" dirty="0">
                        <a:solidFill>
                          <a:srgbClr val="FFFFFF"/>
                        </a:solidFill>
                        <a:latin typeface="Segoe UI Emoji" panose="020B0502040204020203" charset="0"/>
                        <a:cs typeface="Segoe UI Emoji" panose="020B0502040204020203" charset="0"/>
                        <a:sym typeface="+mn-ea"/>
                      </a:endParaRPr>
                    </a:p>
                    <a:p>
                      <a:endPara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1197652">
                <a:tc>
                  <a:txBody>
                    <a:bodyPr/>
                    <a:lstStyle/>
                    <a:p>
                      <a:pPr algn="l" rtl="0"/>
                      <a:r>
                        <a:rPr lang="nl-NL" sz="2000" b="1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[2] Zanbouri et al., 2025</a:t>
                      </a:r>
                      <a:br>
                        <a:rPr lang="nl-NL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endPara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2000" b="1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Indoor Industrial</a:t>
                      </a:r>
                      <a:br>
                        <a:rPr lang="en-GB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GB" sz="20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5G-TSN Integration &amp; Scalability</a:t>
                      </a:r>
                      <a:endPara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GB" sz="20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URLLC performance holds stable under increasing device density when slicing is applied.</a:t>
                      </a:r>
                      <a:endPara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OMNeT</a:t>
                      </a: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++ simulation framework.</a:t>
                      </a:r>
                      <a:endPara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1414146">
                <a:tc>
                  <a:txBody>
                    <a:bodyPr/>
                    <a:lstStyle/>
                    <a:p>
                      <a:pPr algn="l" rtl="0"/>
                      <a:r>
                        <a:rPr lang="fr-FR" sz="2000" b="1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[3] </a:t>
                      </a:r>
                      <a:r>
                        <a:rPr lang="en-US" sz="2000" dirty="0">
                          <a:solidFill>
                            <a:srgbClr val="222222"/>
                          </a:solidFill>
                          <a:latin typeface="Times New Roman" panose="02020603050405020304" pitchFamily="18" charset="0"/>
                          <a:ea typeface="Calibri" panose="020F0502020204030204" charset="0"/>
                          <a:cs typeface="Times New Roman" panose="02020603050405020304" pitchFamily="18" charset="0"/>
                          <a:sym typeface="+mn-ea"/>
                        </a:rPr>
                        <a:t> </a:t>
                      </a:r>
                      <a:r>
                        <a:rPr lang="en-US" sz="2000" b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Bouroudi</a:t>
                      </a:r>
                      <a:r>
                        <a:rPr lang="en-US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, </a:t>
                      </a:r>
                      <a:r>
                        <a:rPr lang="en-US" sz="2000" b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Abdelmounaim...</a:t>
                      </a:r>
                      <a:endParaRPr lang="en-US" sz="2000" b="1" dirty="0" err="1">
                        <a:latin typeface="Times New Roman" panose="02020603050405020304" pitchFamily="18" charset="0"/>
                        <a:cs typeface="Times New Roman" panose="02020603050405020304" pitchFamily="18" charset="0"/>
                        <a:sym typeface="+mn-ea"/>
                      </a:endParaRPr>
                    </a:p>
                    <a:p>
                      <a:pPr algn="l" rtl="0"/>
                      <a:r>
                        <a:rPr lang="en-US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2024</a:t>
                      </a:r>
                      <a:br>
                        <a:rPr lang="fr-FR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endParaRPr 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dirty="0">
                          <a:sym typeface="+mn-ea"/>
                        </a:rPr>
                        <a:t>Multi-domain scaling algorithm with inter-orchestrator communication </a:t>
                      </a:r>
                      <a:endPara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Machine learning-driven horizontal scaling approach for multi-domain network slicing orchestration</a:t>
                      </a:r>
                      <a:endPara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OMNeT</a:t>
                      </a: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++-based simulation</a:t>
                      </a:r>
                      <a:endPara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prism isInverted="1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95307"/>
            <a:ext cx="10515600" cy="901972"/>
          </a:xfrm>
        </p:spPr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plan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1136469" y="1240970"/>
          <a:ext cx="9392193" cy="4976947"/>
        </p:xfrm>
        <a:graphic>
          <a:graphicData uri="http://schemas.openxmlformats.org/drawingml/2006/table">
            <a:tbl>
              <a:tblPr/>
              <a:tblGrid>
                <a:gridCol w="2704011"/>
                <a:gridCol w="4323806"/>
                <a:gridCol w="2364376"/>
              </a:tblGrid>
              <a:tr h="538905"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en-US" sz="24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Phase</a:t>
                      </a:r>
                      <a:endParaRPr lang="en-US" sz="2000" b="1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en-US" sz="24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Task</a:t>
                      </a:r>
                      <a:endParaRPr lang="en-US" sz="2000" b="1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en-US" sz="24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Status</a:t>
                      </a:r>
                      <a:endParaRPr lang="en-US" sz="2000" b="1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840058"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en-US" sz="2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2000" b="1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en-US" sz="20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Theoretical study of 5G</a:t>
                      </a:r>
                      <a:endParaRPr lang="en-US" sz="2000" b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en-US" sz="20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✅</a:t>
                      </a:r>
                      <a:endParaRPr lang="en-US" sz="2000" b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38905"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en-US" sz="20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US" sz="2000" b="1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en-US" sz="20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Literature review</a:t>
                      </a:r>
                      <a:endParaRPr lang="en-US" sz="2000" b="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en-US" sz="20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✅</a:t>
                      </a:r>
                      <a:endParaRPr lang="en-US" sz="2000" b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840058"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en-US" sz="20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US" sz="2000" b="1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en-US" sz="2000" b="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OMNeT</a:t>
                      </a:r>
                      <a:r>
                        <a:rPr lang="en-US" sz="20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++ and Simu5G training</a:t>
                      </a:r>
                      <a:endParaRPr lang="en-US" sz="2000" b="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en-US" sz="20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✅</a:t>
                      </a:r>
                      <a:endParaRPr lang="en-US" sz="2000" b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840058"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en-US" sz="20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US" sz="2000" b="1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en-US" sz="20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5G model design (3GPP-compliant)</a:t>
                      </a:r>
                      <a:endParaRPr lang="en-US" sz="2000" b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en-US" sz="20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⏳ </a:t>
                      </a:r>
                      <a:r>
                        <a:rPr lang="en-US" sz="20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Current</a:t>
                      </a:r>
                      <a:endParaRPr lang="en-US" sz="2000" b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840058"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en-US" sz="20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US" sz="2000" b="1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en-US" sz="20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Simulation and results analysis</a:t>
                      </a:r>
                      <a:endParaRPr lang="en-US" sz="2000" b="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en-US" sz="20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⬜</a:t>
                      </a:r>
                      <a:endParaRPr lang="en-US" sz="2000" b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38905"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en-US" sz="2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en-US" sz="2000" b="1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en-US" sz="20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Documentation</a:t>
                      </a:r>
                      <a:endParaRPr lang="en-US" sz="2000" b="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en-US" sz="20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⬜</a:t>
                      </a:r>
                      <a:endParaRPr lang="en-US" sz="2000" b="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prism isInverted="1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Text Box 4"/>
          <p:cNvSpPr txBox="1"/>
          <p:nvPr/>
        </p:nvSpPr>
        <p:spPr>
          <a:xfrm>
            <a:off x="323215" y="551815"/>
            <a:ext cx="8382000" cy="6254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sz="3600" b="1">
                <a:solidFill>
                  <a:schemeClr val="tx1"/>
                </a:solidFill>
                <a:sym typeface="+mn-ea"/>
              </a:rPr>
              <a:t>Practical implementaion and results:</a:t>
            </a:r>
            <a:endParaRPr lang="en-US" sz="3600" b="1">
              <a:solidFill>
                <a:schemeClr val="tx1"/>
              </a:solidFill>
              <a:sym typeface="+mn-ea"/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323215" y="1938020"/>
            <a:ext cx="11868150" cy="49199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sz="2800"/>
              <a:t>Equipment: </a:t>
            </a:r>
            <a:endParaRPr lang="en-US" altLang="en-US" sz="2800"/>
          </a:p>
          <a:p>
            <a:r>
              <a:rPr lang="en-US" altLang="en-US" sz="2800"/>
              <a:t>Processor	Intel(R) Core(TM) i7-6500U CPU @ 2.50GHz   2.59 GHz</a:t>
            </a:r>
            <a:endParaRPr lang="en-US" altLang="en-US" sz="2800"/>
          </a:p>
          <a:p>
            <a:r>
              <a:rPr lang="en-US" altLang="en-US" sz="2800"/>
              <a:t>Installed RAM	8.00 GB </a:t>
            </a:r>
            <a:endParaRPr lang="en-US" altLang="en-US" sz="2800"/>
          </a:p>
          <a:p>
            <a:endParaRPr lang="en-US" altLang="en-US" sz="2800"/>
          </a:p>
          <a:p>
            <a:r>
              <a:rPr lang="en-US" altLang="en-US" sz="2800"/>
              <a:t>Softwere: omnet++, using Simu5G&amp;inet</a:t>
            </a:r>
            <a:endParaRPr lang="en-US" altLang="en-US" sz="2800"/>
          </a:p>
          <a:p>
            <a:endParaRPr lang="en-US" altLang="en-US" sz="28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prism isInverted="1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  <p:bldLst>
      <p:bldP spid="5" grpId="0"/>
      <p:bldP spid="5" grpId="1"/>
      <p:bldP spid="6" grpId="0"/>
      <p:bldP spid="6" grpId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22930" y="962660"/>
            <a:ext cx="6677660" cy="5970270"/>
          </a:xfrm>
          <a:prstGeom prst="rect">
            <a:avLst/>
          </a:prstGeom>
        </p:spPr>
      </p:pic>
      <p:sp>
        <p:nvSpPr>
          <p:cNvPr id="2" name="Text Box 1"/>
          <p:cNvSpPr txBox="1"/>
          <p:nvPr/>
        </p:nvSpPr>
        <p:spPr>
          <a:xfrm>
            <a:off x="194310" y="767080"/>
            <a:ext cx="13957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scenarios:</a:t>
            </a:r>
            <a:endParaRPr lang="en-US"/>
          </a:p>
        </p:txBody>
      </p:sp>
      <p:sp>
        <p:nvSpPr>
          <p:cNvPr id="4" name="Text Box 3"/>
          <p:cNvSpPr txBox="1"/>
          <p:nvPr/>
        </p:nvSpPr>
        <p:spPr>
          <a:xfrm>
            <a:off x="100330" y="1885315"/>
            <a:ext cx="1570355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1- without mobiltiy</a:t>
            </a:r>
            <a:endParaRPr lang="en-US"/>
          </a:p>
          <a:p>
            <a:endParaRPr lang="en-US"/>
          </a:p>
          <a:p>
            <a:r>
              <a:rPr lang="en-US"/>
              <a:t>2-with mobility</a:t>
            </a:r>
            <a:endParaRPr lang="en-US"/>
          </a:p>
        </p:txBody>
      </p:sp>
      <p:sp>
        <p:nvSpPr>
          <p:cNvPr id="5" name="Text Box 4"/>
          <p:cNvSpPr txBox="1"/>
          <p:nvPr/>
        </p:nvSpPr>
        <p:spPr>
          <a:xfrm>
            <a:off x="5382895" y="149225"/>
            <a:ext cx="4064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GB" sz="2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simulation &amp; resulte</a:t>
            </a:r>
            <a:endParaRPr lang="en-US" sz="24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prism isInverted="1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418465"/>
            <a:ext cx="12087225" cy="597979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prism isInverted="1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2511</Words>
  <Application>WPS Presentation</Application>
  <PresentationFormat>Widescreen</PresentationFormat>
  <Paragraphs>180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4" baseType="lpstr">
      <vt:lpstr>Arial</vt:lpstr>
      <vt:lpstr>SimSun</vt:lpstr>
      <vt:lpstr>Wingdings</vt:lpstr>
      <vt:lpstr>Times New Roman</vt:lpstr>
      <vt:lpstr>Segoe UI Emoji</vt:lpstr>
      <vt:lpstr>Microsoft YaHei</vt:lpstr>
      <vt:lpstr>Arial Unicode MS</vt:lpstr>
      <vt:lpstr>Aptos</vt:lpstr>
      <vt:lpstr>Segoe UI</vt:lpstr>
      <vt:lpstr>Aptos Display</vt:lpstr>
      <vt:lpstr>Calibri</vt:lpstr>
      <vt:lpstr>Office Theme</vt:lpstr>
      <vt:lpstr>Syrian Private University faculty of Artificial Intelligence Engineering  Telecommunication Engineering</vt:lpstr>
      <vt:lpstr>Outline</vt:lpstr>
      <vt:lpstr>Problem Statement</vt:lpstr>
      <vt:lpstr>Project Objective&amp; Project Importance</vt:lpstr>
      <vt:lpstr>Theoretical Fundamentals (1/2)</vt:lpstr>
      <vt:lpstr>Theoretical Fundamentals (2/2)</vt:lpstr>
      <vt:lpstr>Literature review</vt:lpstr>
      <vt:lpstr>Literature review</vt:lpstr>
      <vt:lpstr>Project plan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USER</dc:creator>
  <cp:lastModifiedBy>ALAA</cp:lastModifiedBy>
  <cp:revision>76</cp:revision>
  <dcterms:created xsi:type="dcterms:W3CDTF">2026-04-19T05:34:00Z</dcterms:created>
  <dcterms:modified xsi:type="dcterms:W3CDTF">2026-04-25T20:09:59Z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1033-12.1.0.25862</vt:lpwstr>
  </property>
  <property fmtid="{D5CDD505-2E9C-101B-9397-08002B2CF9AE}" pid="3" name="ICV">
    <vt:lpwstr>15092D0F21984563ABADD573BFAFC820_12</vt:lpwstr>
  </property>
</Properties>
</file>