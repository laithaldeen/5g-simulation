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6"/>
  </p:handoutMasterIdLst>
  <p:sldIdLst>
    <p:sldId id="256" r:id="rId3"/>
    <p:sldId id="258" r:id="rId4"/>
    <p:sldId id="260" r:id="rId5"/>
    <p:sldId id="261" r:id="rId6"/>
    <p:sldId id="271" r:id="rId7"/>
    <p:sldId id="265" r:id="rId8"/>
    <p:sldId id="272" r:id="rId9"/>
    <p:sldId id="266" r:id="rId10"/>
    <p:sldId id="267" r:id="rId11"/>
    <p:sldId id="268" r:id="rId12"/>
    <p:sldId id="264" r:id="rId13"/>
    <p:sldId id="263"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E1EE"/>
    <a:srgbClr val="1F98FA"/>
    <a:srgbClr val="408AC8"/>
    <a:srgbClr val="0F7FCD"/>
    <a:srgbClr val="FFFFFF"/>
    <a:srgbClr val="2A3441"/>
    <a:srgbClr val="3B3B3B"/>
    <a:srgbClr val="43A7F4"/>
    <a:srgbClr val="52E9EE"/>
    <a:srgbClr val="8AE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72070" y="78105"/>
            <a:ext cx="4519930" cy="1898015"/>
          </a:xfrm>
        </p:spPr>
        <p:txBody>
          <a:bodyPr>
            <a:normAutofit fontScale="90000"/>
          </a:bodyPr>
          <a:lstStyle/>
          <a:p>
            <a:r>
              <a:rPr lang="en-US" altLang="en-US" sz="2890" dirty="0">
                <a:solidFill>
                  <a:schemeClr val="tx1"/>
                </a:solidFill>
                <a:latin typeface="Segoe UI Emoji" panose="020B0502040204020203" charset="0"/>
                <a:cs typeface="Segoe UI Emoji" panose="020B0502040204020203" charset="0"/>
              </a:rPr>
              <a:t>Syrian Private University</a:t>
            </a:r>
            <a:br>
              <a:rPr lang="en-US" altLang="en-US" sz="2890" dirty="0">
                <a:solidFill>
                  <a:schemeClr val="tx1"/>
                </a:solidFill>
                <a:latin typeface="Segoe UI Emoji" panose="020B0502040204020203" charset="0"/>
                <a:cs typeface="Segoe UI Emoji" panose="020B0502040204020203" charset="0"/>
              </a:rPr>
            </a:br>
            <a:r>
              <a:rPr lang="en-US" altLang="en-US" sz="2890" dirty="0">
                <a:solidFill>
                  <a:schemeClr val="tx1"/>
                </a:solidFill>
                <a:latin typeface="Segoe UI Emoji" panose="020B0502040204020203" charset="0"/>
                <a:cs typeface="Segoe UI Emoji" panose="020B0502040204020203" charset="0"/>
              </a:rPr>
              <a:t>faculty of Artificial Intelligence Engineering </a:t>
            </a:r>
            <a:br>
              <a:rPr lang="en-US" altLang="en-US" sz="2890" dirty="0">
                <a:solidFill>
                  <a:schemeClr val="tx1"/>
                </a:solidFill>
                <a:latin typeface="Segoe UI Emoji" panose="020B0502040204020203" charset="0"/>
                <a:cs typeface="Segoe UI Emoji" panose="020B0502040204020203" charset="0"/>
              </a:rPr>
            </a:br>
            <a:r>
              <a:rPr lang="en-US" altLang="en-US" sz="2890" dirty="0">
                <a:solidFill>
                  <a:schemeClr val="tx1"/>
                </a:solidFill>
                <a:latin typeface="Segoe UI Emoji" panose="020B0502040204020203" charset="0"/>
                <a:cs typeface="Segoe UI Emoji" panose="020B0502040204020203" charset="0"/>
              </a:rPr>
              <a:t>Telecommunication Engineering</a:t>
            </a:r>
            <a:endParaRPr lang="en-US" altLang="en-US" sz="2890" dirty="0">
              <a:solidFill>
                <a:schemeClr val="tx1"/>
              </a:solidFill>
              <a:latin typeface="Segoe UI Emoji" panose="020B0502040204020203" charset="0"/>
              <a:cs typeface="Segoe UI Emoji" panose="020B0502040204020203" charset="0"/>
            </a:endParaRPr>
          </a:p>
        </p:txBody>
      </p:sp>
      <p:sp>
        <p:nvSpPr>
          <p:cNvPr id="3" name="Subtitle 2"/>
          <p:cNvSpPr>
            <a:spLocks noGrp="1"/>
          </p:cNvSpPr>
          <p:nvPr>
            <p:ph type="subTitle" idx="1"/>
          </p:nvPr>
        </p:nvSpPr>
        <p:spPr>
          <a:xfrm>
            <a:off x="1711325" y="2317433"/>
            <a:ext cx="9144000" cy="1655762"/>
          </a:xfrm>
        </p:spPr>
        <p:txBody>
          <a:bodyPr>
            <a:normAutofit lnSpcReduction="20000"/>
          </a:bodyPr>
          <a:lstStyle/>
          <a:p>
            <a:pPr>
              <a:lnSpc>
                <a:spcPct val="110000"/>
              </a:lnSpc>
            </a:pPr>
            <a:r>
              <a:rPr lang="en-US" altLang="en-US" sz="3600" b="1">
                <a:solidFill>
                  <a:srgbClr val="43A7F4"/>
                </a:solidFill>
                <a:latin typeface="Segoe UI Emoji" panose="020B0502040204020203" charset="0"/>
                <a:cs typeface="Segoe UI Emoji" panose="020B0502040204020203" charset="0"/>
              </a:rPr>
              <a:t>Project Title:</a:t>
            </a:r>
            <a:endParaRPr lang="en-US" altLang="en-US" sz="3600" b="1">
              <a:solidFill>
                <a:srgbClr val="43A7F4"/>
              </a:solidFill>
              <a:latin typeface="Segoe UI Emoji" panose="020B0502040204020203" charset="0"/>
              <a:cs typeface="Segoe UI Emoji" panose="020B0502040204020203" charset="0"/>
            </a:endParaRPr>
          </a:p>
          <a:p>
            <a:pPr>
              <a:lnSpc>
                <a:spcPct val="110000"/>
              </a:lnSpc>
            </a:pPr>
            <a:r>
              <a:rPr lang="en-US" altLang="en-US" sz="2800" b="1">
                <a:solidFill>
                  <a:srgbClr val="43A7F4"/>
                </a:solidFill>
                <a:latin typeface="Segoe UI Emoji" panose="020B0502040204020203" charset="0"/>
                <a:cs typeface="Segoe UI Emoji" panose="020B0502040204020203" charset="0"/>
              </a:rPr>
              <a:t>A Simulation-Based Model Design for High-Performance 5G  Networks</a:t>
            </a:r>
            <a:endParaRPr lang="en-US" altLang="en-US" sz="2800" b="1">
              <a:solidFill>
                <a:srgbClr val="43A7F4"/>
              </a:solidFill>
              <a:latin typeface="Segoe UI Emoji" panose="020B0502040204020203" charset="0"/>
              <a:cs typeface="Segoe UI Emoji" panose="020B0502040204020203" charset="0"/>
            </a:endParaRPr>
          </a:p>
        </p:txBody>
      </p:sp>
      <p:pic>
        <p:nvPicPr>
          <p:cNvPr id="4" name="Picture 4" descr="download"/>
          <p:cNvPicPr>
            <a:picLocks noChangeAspect="1"/>
          </p:cNvPicPr>
          <p:nvPr/>
        </p:nvPicPr>
        <p:blipFill>
          <a:blip r:embed="rId1"/>
          <a:stretch>
            <a:fillRect/>
          </a:stretch>
        </p:blipFill>
        <p:spPr>
          <a:xfrm>
            <a:off x="233680" y="77788"/>
            <a:ext cx="1182370" cy="1044575"/>
          </a:xfrm>
          <a:prstGeom prst="rect">
            <a:avLst/>
          </a:prstGeom>
        </p:spPr>
      </p:pic>
      <p:sp>
        <p:nvSpPr>
          <p:cNvPr id="5" name="Text Box 4"/>
          <p:cNvSpPr txBox="1"/>
          <p:nvPr/>
        </p:nvSpPr>
        <p:spPr>
          <a:xfrm>
            <a:off x="3745865" y="5545455"/>
            <a:ext cx="5361940" cy="1529080"/>
          </a:xfrm>
          <a:prstGeom prst="rect">
            <a:avLst/>
          </a:prstGeom>
          <a:noFill/>
        </p:spPr>
        <p:txBody>
          <a:bodyPr wrap="square" rtlCol="0">
            <a:noAutofit/>
          </a:bodyPr>
          <a:p>
            <a:pPr algn="ctr">
              <a:lnSpc>
                <a:spcPct val="70000"/>
              </a:lnSpc>
            </a:pPr>
            <a:r>
              <a:rPr lang="en-US" altLang="en-US" sz="2000" b="1">
                <a:solidFill>
                  <a:schemeClr val="tx1"/>
                </a:solidFill>
                <a:latin typeface="Segoe UI Emoji" panose="020B0502040204020203" charset="0"/>
                <a:cs typeface="Segoe UI Emoji" panose="020B0502040204020203" charset="0"/>
              </a:rPr>
              <a:t>Prepared By:</a:t>
            </a:r>
            <a:endParaRPr lang="en-US" altLang="en-US" sz="2000" b="1">
              <a:solidFill>
                <a:schemeClr val="tx1"/>
              </a:solidFill>
              <a:latin typeface="Segoe UI Emoji" panose="020B0502040204020203" charset="0"/>
              <a:cs typeface="Segoe UI Emoji" panose="020B0502040204020203" charset="0"/>
            </a:endParaRPr>
          </a:p>
          <a:p>
            <a:pPr algn="ctr">
              <a:lnSpc>
                <a:spcPct val="70000"/>
              </a:lnSpc>
            </a:pPr>
            <a:endParaRPr lang="en-US" altLang="en-US" sz="2000" b="1">
              <a:solidFill>
                <a:schemeClr val="tx1"/>
              </a:solidFill>
            </a:endParaRPr>
          </a:p>
          <a:p>
            <a:pPr algn="ctr">
              <a:lnSpc>
                <a:spcPct val="70000"/>
              </a:lnSpc>
            </a:pPr>
            <a:r>
              <a:rPr lang="en-US" altLang="en-US" sz="2000" b="1">
                <a:solidFill>
                  <a:schemeClr val="tx1"/>
                </a:solidFill>
                <a:latin typeface="Segoe UI Emoji" panose="020B0502040204020203" charset="0"/>
                <a:cs typeface="Segoe UI Emoji" panose="020B0502040204020203" charset="0"/>
              </a:rPr>
              <a:t>MHD.Nour Najeeb</a:t>
            </a:r>
            <a:endParaRPr lang="en-US" altLang="en-US" sz="2000" b="1">
              <a:solidFill>
                <a:schemeClr val="tx1"/>
              </a:solidFill>
              <a:latin typeface="Segoe UI Emoji" panose="020B0502040204020203" charset="0"/>
              <a:cs typeface="Segoe UI Emoji" panose="020B0502040204020203" charset="0"/>
            </a:endParaRPr>
          </a:p>
          <a:p>
            <a:pPr algn="ctr">
              <a:lnSpc>
                <a:spcPct val="70000"/>
              </a:lnSpc>
            </a:pPr>
            <a:endParaRPr lang="en-US" altLang="en-US" sz="2000" b="1">
              <a:solidFill>
                <a:schemeClr val="tx1"/>
              </a:solidFill>
            </a:endParaRPr>
          </a:p>
          <a:p>
            <a:pPr algn="ctr">
              <a:lnSpc>
                <a:spcPct val="70000"/>
              </a:lnSpc>
            </a:pPr>
            <a:r>
              <a:rPr lang="en-US" sz="2000" b="1" dirty="0" err="1">
                <a:solidFill>
                  <a:schemeClr val="tx1"/>
                </a:solidFill>
                <a:latin typeface="Segoe UI Emoji" panose="020B0502040204020203" charset="0"/>
                <a:cs typeface="Segoe UI Emoji" panose="020B0502040204020203" charset="0"/>
                <a:sym typeface="+mn-ea"/>
              </a:rPr>
              <a:t>LaithAbdAlrazek</a:t>
            </a:r>
            <a:endParaRPr lang="en-US" altLang="en-US" sz="2000" b="1" dirty="0" err="1">
              <a:solidFill>
                <a:schemeClr val="tx1"/>
              </a:solidFill>
              <a:latin typeface="Segoe UI Emoji" panose="020B0502040204020203" charset="0"/>
              <a:cs typeface="Segoe UI Emoji" panose="020B0502040204020203" charset="0"/>
              <a:sym typeface="+mn-ea"/>
            </a:endParaRPr>
          </a:p>
        </p:txBody>
      </p:sp>
      <p:sp>
        <p:nvSpPr>
          <p:cNvPr id="6" name="Text Box 5"/>
          <p:cNvSpPr txBox="1"/>
          <p:nvPr/>
        </p:nvSpPr>
        <p:spPr>
          <a:xfrm>
            <a:off x="5181600" y="4501515"/>
            <a:ext cx="2490470" cy="937895"/>
          </a:xfrm>
          <a:prstGeom prst="rect">
            <a:avLst/>
          </a:prstGeom>
          <a:noFill/>
        </p:spPr>
        <p:txBody>
          <a:bodyPr wrap="square" rtlCol="0">
            <a:noAutofit/>
          </a:bodyPr>
          <a:p>
            <a:pPr algn="ctr">
              <a:lnSpc>
                <a:spcPct val="80000"/>
              </a:lnSpc>
            </a:pPr>
            <a:r>
              <a:rPr lang="en-US" altLang="en-GB" sz="2000" b="1" dirty="0">
                <a:solidFill>
                  <a:schemeClr val="tx1"/>
                </a:solidFill>
                <a:latin typeface="Segoe UI Emoji" panose="020B0502040204020203" charset="0"/>
                <a:cs typeface="Segoe UI Emoji" panose="020B0502040204020203" charset="0"/>
                <a:sym typeface="+mn-ea"/>
              </a:rPr>
              <a:t> </a:t>
            </a:r>
            <a:r>
              <a:rPr lang="en-GB" sz="2000" b="1" dirty="0">
                <a:solidFill>
                  <a:schemeClr val="tx1"/>
                </a:solidFill>
                <a:latin typeface="Segoe UI Emoji" panose="020B0502040204020203" charset="0"/>
                <a:cs typeface="Segoe UI Emoji" panose="020B0502040204020203" charset="0"/>
                <a:sym typeface="+mn-ea"/>
              </a:rPr>
              <a:t>Supervisors:</a:t>
            </a:r>
            <a:endParaRPr lang="en-GB" sz="2000" b="1" dirty="0">
              <a:solidFill>
                <a:schemeClr val="tx1"/>
              </a:solidFill>
              <a:latin typeface="Segoe UI Emoji" panose="020B0502040204020203" charset="0"/>
              <a:cs typeface="Segoe UI Emoji" panose="020B0502040204020203" charset="0"/>
              <a:sym typeface="+mn-ea"/>
            </a:endParaRPr>
          </a:p>
          <a:p>
            <a:pPr algn="ctr">
              <a:lnSpc>
                <a:spcPct val="80000"/>
              </a:lnSpc>
            </a:pPr>
            <a:endParaRPr lang="ar-SA" altLang="en-US" sz="2000" b="1" dirty="0" smtClean="0">
              <a:solidFill>
                <a:schemeClr val="tx1"/>
              </a:solidFill>
              <a:latin typeface="Segoe UI Emoji" panose="020B0502040204020203" charset="0"/>
              <a:cs typeface="Segoe UI Emoji" panose="020B0502040204020203" charset="0"/>
              <a:sym typeface="+mn-ea"/>
            </a:endParaRPr>
          </a:p>
          <a:p>
            <a:pPr algn="ctr">
              <a:lnSpc>
                <a:spcPct val="80000"/>
              </a:lnSpc>
            </a:pPr>
            <a:r>
              <a:rPr lang="ar-SA" altLang="en-US" sz="2000" b="1" dirty="0" smtClean="0">
                <a:solidFill>
                  <a:schemeClr val="tx1"/>
                </a:solidFill>
                <a:latin typeface="Segoe UI Emoji" panose="020B0502040204020203" charset="0"/>
                <a:cs typeface="Segoe UI Emoji" panose="020B0502040204020203" charset="0"/>
                <a:sym typeface="+mn-ea"/>
              </a:rPr>
              <a:t> </a:t>
            </a:r>
            <a:r>
              <a:rPr lang="en-US" sz="2000" b="1" dirty="0">
                <a:solidFill>
                  <a:schemeClr val="tx1"/>
                </a:solidFill>
                <a:latin typeface="Segoe UI Emoji" panose="020B0502040204020203" charset="0"/>
                <a:cs typeface="Segoe UI Emoji" panose="020B0502040204020203" charset="0"/>
                <a:sym typeface="+mn-ea"/>
              </a:rPr>
              <a:t>Dr. </a:t>
            </a:r>
            <a:r>
              <a:rPr lang="en-US" sz="2000" b="1" dirty="0" err="1">
                <a:solidFill>
                  <a:schemeClr val="tx1"/>
                </a:solidFill>
                <a:latin typeface="Segoe UI Emoji" panose="020B0502040204020203" charset="0"/>
                <a:cs typeface="Segoe UI Emoji" panose="020B0502040204020203" charset="0"/>
                <a:sym typeface="+mn-ea"/>
              </a:rPr>
              <a:t>Rawad Melhem</a:t>
            </a:r>
            <a:endParaRPr lang="en-US" altLang="en-US" sz="2000" b="1">
              <a:solidFill>
                <a:schemeClr val="tx1"/>
              </a:solidFill>
            </a:endParaRPr>
          </a:p>
          <a:p>
            <a:pPr algn="ctr">
              <a:lnSpc>
                <a:spcPct val="80000"/>
              </a:lnSpc>
            </a:pPr>
            <a:endParaRPr lang="en-US" altLang="en-US" sz="2000" b="1" dirty="0" err="1">
              <a:solidFill>
                <a:schemeClr val="tx1"/>
              </a:solidFill>
              <a:latin typeface="Segoe UI Emoji" panose="020B0502040204020203" charset="0"/>
              <a:cs typeface="Segoe UI Emoji" panose="020B0502040204020203"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838200" y="365125"/>
            <a:ext cx="10515600" cy="1011555"/>
          </a:xfrm>
        </p:spPr>
        <p:txBody>
          <a:bodyPr/>
          <a:p>
            <a:r>
              <a:rPr lang="en-GB" b="1" dirty="0" smtClean="0">
                <a:solidFill>
                  <a:srgbClr val="0F7FCD"/>
                </a:solidFill>
                <a:latin typeface="Segoe UI Emoji" panose="020B0502040204020203" charset="0"/>
                <a:cs typeface="Segoe UI Emoji" panose="020B0502040204020203" charset="0"/>
                <a:sym typeface="+mn-ea"/>
              </a:rPr>
              <a:t>OUTLINE</a:t>
            </a:r>
            <a:r>
              <a:rPr lang="ar-SA" altLang="en-GB" b="1" dirty="0" smtClean="0">
                <a:solidFill>
                  <a:srgbClr val="0F7FCD"/>
                </a:solidFill>
                <a:latin typeface="Segoe UI Emoji" panose="020B0502040204020203" charset="0"/>
                <a:cs typeface="Segoe UI Emoji" panose="020B0502040204020203" charset="0"/>
                <a:sym typeface="+mn-ea"/>
              </a:rPr>
              <a:t>: </a:t>
            </a:r>
            <a:endParaRPr lang="en-US" dirty="0">
              <a:solidFill>
                <a:srgbClr val="0F7FCD"/>
              </a:solidFill>
              <a:latin typeface="Segoe UI Emoji" panose="020B0502040204020203" charset="0"/>
              <a:cs typeface="Segoe UI Emoji" panose="020B0502040204020203" charset="0"/>
              <a:sym typeface="+mn-ea"/>
            </a:endParaRPr>
          </a:p>
        </p:txBody>
      </p:sp>
      <p:sp>
        <p:nvSpPr>
          <p:cNvPr id="3" name="Content Placeholder 2"/>
          <p:cNvSpPr>
            <a:spLocks noGrp="1"/>
          </p:cNvSpPr>
          <p:nvPr>
            <p:ph idx="1"/>
          </p:nvPr>
        </p:nvSpPr>
        <p:spPr>
          <a:xfrm>
            <a:off x="838200" y="1576705"/>
            <a:ext cx="10515600" cy="4013835"/>
          </a:xfrm>
          <a:noFill/>
          <a:ln>
            <a:noFill/>
          </a:ln>
          <a:effectLst>
            <a:glow rad="63500">
              <a:srgbClr val="2A3441">
                <a:alpha val="40000"/>
              </a:srgbClr>
            </a:glow>
            <a:outerShdw blurRad="50800" dist="38100" dir="2700000" algn="tl" rotWithShape="0">
              <a:srgbClr val="3B3B3B">
                <a:alpha val="40000"/>
              </a:srgbClr>
            </a:outerShdw>
            <a:reflection blurRad="6350" stA="50000" endA="300" endPos="38500" dist="508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fontScale="80000"/>
          </a:bodyPr>
          <a:p>
            <a:pPr>
              <a:lnSpc>
                <a:spcPct val="150000"/>
              </a:lnSpc>
              <a:buFontTx/>
              <a:buChar char="-"/>
            </a:pPr>
            <a:r>
              <a:rPr lang="en-US" b="1" dirty="0">
                <a:solidFill>
                  <a:schemeClr val="tx1"/>
                </a:solidFill>
                <a:latin typeface="Segoe UI Emoji" panose="020B0502040204020203" charset="0"/>
                <a:cs typeface="Segoe UI Emoji" panose="020B0502040204020203" charset="0"/>
                <a:sym typeface="+mn-ea"/>
              </a:rPr>
              <a:t>Project objective </a:t>
            </a:r>
            <a:r>
              <a:rPr lang="en-GB" b="1" dirty="0">
                <a:solidFill>
                  <a:schemeClr val="tx1"/>
                </a:solidFill>
                <a:latin typeface="Segoe UI Emoji" panose="020B0502040204020203" charset="0"/>
                <a:cs typeface="Segoe UI Emoji" panose="020B0502040204020203" charset="0"/>
                <a:sym typeface="+mn-ea"/>
              </a:rPr>
              <a:t>.</a:t>
            </a:r>
            <a:endParaRPr lang="en-GB" b="1" dirty="0">
              <a:solidFill>
                <a:schemeClr val="tx1"/>
              </a:solidFill>
              <a:latin typeface="Segoe UI Emoji" panose="020B0502040204020203" charset="0"/>
              <a:cs typeface="Segoe UI Emoji" panose="020B0502040204020203" charset="0"/>
            </a:endParaRPr>
          </a:p>
          <a:p>
            <a:pPr>
              <a:lnSpc>
                <a:spcPct val="150000"/>
              </a:lnSpc>
              <a:buFontTx/>
              <a:buChar char="-"/>
            </a:pPr>
            <a:r>
              <a:rPr lang="en-GB" b="1" dirty="0">
                <a:solidFill>
                  <a:schemeClr val="tx1"/>
                </a:solidFill>
                <a:latin typeface="Segoe UI Emoji" panose="020B0502040204020203" charset="0"/>
                <a:cs typeface="Segoe UI Emoji" panose="020B0502040204020203" charset="0"/>
                <a:sym typeface="+mn-ea"/>
              </a:rPr>
              <a:t>Problem statement </a:t>
            </a:r>
            <a:r>
              <a:rPr lang="en-US" altLang="en-GB" b="1" dirty="0">
                <a:solidFill>
                  <a:schemeClr val="tx1"/>
                </a:solidFill>
                <a:latin typeface="Segoe UI Emoji" panose="020B0502040204020203" charset="0"/>
                <a:cs typeface="Segoe UI Emoji" panose="020B0502040204020203" charset="0"/>
                <a:sym typeface="+mn-ea"/>
              </a:rPr>
              <a:t>.</a:t>
            </a:r>
            <a:endParaRPr lang="en-GB" b="1" dirty="0">
              <a:solidFill>
                <a:schemeClr val="tx1"/>
              </a:solidFill>
              <a:latin typeface="Segoe UI Emoji" panose="020B0502040204020203" charset="0"/>
              <a:cs typeface="Segoe UI Emoji" panose="020B0502040204020203" charset="0"/>
            </a:endParaRPr>
          </a:p>
          <a:p>
            <a:pPr>
              <a:lnSpc>
                <a:spcPct val="150000"/>
              </a:lnSpc>
              <a:buFontTx/>
              <a:buChar char="-"/>
            </a:pPr>
            <a:r>
              <a:rPr lang="en-US" altLang="en-US" b="1" dirty="0">
                <a:solidFill>
                  <a:schemeClr val="tx1"/>
                </a:solidFill>
                <a:latin typeface="Segoe UI Emoji" panose="020B0502040204020203" charset="0"/>
                <a:cs typeface="Segoe UI Emoji" panose="020B0502040204020203" charset="0"/>
              </a:rPr>
              <a:t>Theoretical Fundamentals .  </a:t>
            </a:r>
            <a:endParaRPr lang="en-US" altLang="en-US" b="1" dirty="0">
              <a:solidFill>
                <a:schemeClr val="tx1"/>
              </a:solidFill>
              <a:latin typeface="Segoe UI Emoji" panose="020B0502040204020203" charset="0"/>
              <a:cs typeface="Segoe UI Emoji" panose="020B0502040204020203" charset="0"/>
            </a:endParaRPr>
          </a:p>
          <a:p>
            <a:pPr marL="0" indent="0">
              <a:lnSpc>
                <a:spcPct val="150000"/>
              </a:lnSpc>
              <a:buNone/>
            </a:pPr>
            <a:r>
              <a:rPr lang="en-GB" b="1" dirty="0">
                <a:solidFill>
                  <a:schemeClr val="tx1"/>
                </a:solidFill>
                <a:latin typeface="Segoe UI Emoji" panose="020B0502040204020203" charset="0"/>
                <a:cs typeface="Segoe UI Emoji" panose="020B0502040204020203" charset="0"/>
                <a:sym typeface="+mn-ea"/>
              </a:rPr>
              <a:t>-   </a:t>
            </a:r>
            <a:r>
              <a:rPr lang="en-US" altLang="en-US" b="1" dirty="0">
                <a:solidFill>
                  <a:schemeClr val="tx1"/>
                </a:solidFill>
                <a:latin typeface="Segoe UI Emoji" panose="020B0502040204020203" charset="0"/>
                <a:cs typeface="Segoe UI Emoji" panose="020B0502040204020203" charset="0"/>
                <a:sym typeface="+mn-ea"/>
              </a:rPr>
              <a:t>Literature Review</a:t>
            </a:r>
            <a:r>
              <a:rPr lang="en-GB" b="1" dirty="0">
                <a:solidFill>
                  <a:schemeClr val="tx1"/>
                </a:solidFill>
                <a:latin typeface="Segoe UI Emoji" panose="020B0502040204020203" charset="0"/>
                <a:cs typeface="Segoe UI Emoji" panose="020B0502040204020203" charset="0"/>
                <a:sym typeface="+mn-ea"/>
              </a:rPr>
              <a:t>.</a:t>
            </a:r>
            <a:endParaRPr lang="en-GB" b="1" dirty="0">
              <a:solidFill>
                <a:schemeClr val="tx1"/>
              </a:solidFill>
              <a:latin typeface="Segoe UI Emoji" panose="020B0502040204020203" charset="0"/>
              <a:cs typeface="Segoe UI Emoji" panose="020B0502040204020203" charset="0"/>
              <a:sym typeface="+mn-ea"/>
            </a:endParaRPr>
          </a:p>
          <a:p>
            <a:pPr marL="0" indent="0">
              <a:lnSpc>
                <a:spcPct val="150000"/>
              </a:lnSpc>
              <a:buNone/>
            </a:pPr>
            <a:r>
              <a:rPr lang="en-US" altLang="en-US" b="1" dirty="0">
                <a:solidFill>
                  <a:schemeClr val="tx1"/>
                </a:solidFill>
                <a:latin typeface="Segoe UI Emoji" panose="020B0502040204020203" charset="0"/>
                <a:cs typeface="Segoe UI Emoji" panose="020B0502040204020203" charset="0"/>
              </a:rPr>
              <a:t>    Project Execution Stages</a:t>
            </a:r>
            <a:endParaRPr lang="en-US" altLang="en-US" b="1" dirty="0">
              <a:solidFill>
                <a:schemeClr val="tx1"/>
              </a:solidFill>
              <a:latin typeface="Segoe UI Emoji" panose="020B0502040204020203" charset="0"/>
              <a:cs typeface="Segoe UI Emoji" panose="020B0502040204020203" charset="0"/>
            </a:endParaRPr>
          </a:p>
          <a:p>
            <a:pPr marL="0" indent="0">
              <a:lnSpc>
                <a:spcPct val="150000"/>
              </a:lnSpc>
              <a:buNone/>
            </a:pPr>
            <a:r>
              <a:rPr lang="ar-SA" altLang="en-US" b="1" dirty="0">
                <a:solidFill>
                  <a:schemeClr val="tx1"/>
                </a:solidFill>
                <a:latin typeface="Segoe UI Emoji" panose="020B0502040204020203" charset="0"/>
                <a:cs typeface="Segoe UI Emoji" panose="020B0502040204020203" charset="0"/>
              </a:rPr>
              <a:t>   -</a:t>
            </a:r>
            <a:r>
              <a:rPr lang="en-US" altLang="en-US" b="1" dirty="0">
                <a:solidFill>
                  <a:schemeClr val="tx1"/>
                </a:solidFill>
                <a:latin typeface="Segoe UI Emoji" panose="020B0502040204020203" charset="0"/>
                <a:cs typeface="Segoe UI Emoji" panose="020B0502040204020203" charset="0"/>
              </a:rPr>
              <a:t>References</a:t>
            </a:r>
            <a:endParaRPr lang="en-US" altLang="en-US" b="1" dirty="0">
              <a:solidFill>
                <a:schemeClr val="tx1"/>
              </a:solidFill>
              <a:latin typeface="Segoe UI Emoji" panose="020B0502040204020203" charset="0"/>
              <a:cs typeface="Segoe UI Emoji" panose="020B0502040204020203" charset="0"/>
            </a:endParaRPr>
          </a:p>
          <a:p>
            <a:pPr>
              <a:lnSpc>
                <a:spcPct val="130000"/>
              </a:lnSpc>
            </a:pPr>
            <a:endParaRPr lang="en-US" altLang="en-US" b="1" dirty="0">
              <a:solidFill>
                <a:schemeClr val="tx1"/>
              </a:solidFill>
              <a:latin typeface="Segoe UI Emoji" panose="020B0502040204020203" charset="0"/>
              <a:cs typeface="Segoe UI Emoji" panose="020B0502040204020203"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 name="Content Placeholder 2"/>
          <p:cNvSpPr>
            <a:spLocks noGrp="1"/>
          </p:cNvSpPr>
          <p:nvPr>
            <p:ph idx="1"/>
          </p:nvPr>
        </p:nvSpPr>
        <p:spPr>
          <a:xfrm>
            <a:off x="342265" y="1691005"/>
            <a:ext cx="11507470" cy="4535805"/>
          </a:xfr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a:bodyPr>
          <a:p>
            <a:pPr>
              <a:lnSpc>
                <a:spcPct val="130000"/>
              </a:lnSpc>
            </a:pPr>
            <a:r>
              <a:rPr lang="en-US" altLang="en-US" b="1">
                <a:solidFill>
                  <a:schemeClr val="tx1"/>
                </a:solidFill>
                <a:latin typeface="Segoe UI Emoji" panose="020B0502040204020203" charset="0"/>
                <a:cs typeface="Segoe UI Emoji" panose="020B0502040204020203" charset="0"/>
                <a:sym typeface="+mn-ea"/>
              </a:rPr>
              <a:t>A Simulation-Based Model Design for High-Performance 5G  Networks</a:t>
            </a:r>
            <a:endParaRPr lang="en-US" b="1" dirty="0">
              <a:solidFill>
                <a:schemeClr val="tx1"/>
              </a:solidFill>
              <a:latin typeface="Segoe UI Emoji" panose="020B0502040204020203" charset="0"/>
              <a:cs typeface="Segoe UI Emoji" panose="020B0502040204020203" charset="0"/>
              <a:sym typeface="+mn-ea"/>
            </a:endParaRPr>
          </a:p>
          <a:p>
            <a:pPr>
              <a:lnSpc>
                <a:spcPct val="130000"/>
              </a:lnSpc>
            </a:pPr>
            <a:r>
              <a:rPr lang="en-US" dirty="0">
                <a:solidFill>
                  <a:schemeClr val="tx1"/>
                </a:solidFill>
                <a:latin typeface="Segoe UI Emoji" panose="020B0502040204020203" charset="0"/>
                <a:cs typeface="Segoe UI Emoji" panose="020B0502040204020203" charset="0"/>
                <a:sym typeface="+mn-ea"/>
              </a:rPr>
              <a:t>develop an intelligent dynamic resource allocation algorithm to optimize performance across </a:t>
            </a:r>
            <a:r>
              <a:rPr lang="en-US" dirty="0" err="1">
                <a:solidFill>
                  <a:schemeClr val="tx1"/>
                </a:solidFill>
                <a:latin typeface="Segoe UI Emoji" panose="020B0502040204020203" charset="0"/>
                <a:cs typeface="Segoe UI Emoji" panose="020B0502040204020203" charset="0"/>
                <a:sym typeface="+mn-ea"/>
              </a:rPr>
              <a:t>eMBB</a:t>
            </a:r>
            <a:r>
              <a:rPr lang="en-US" dirty="0">
                <a:solidFill>
                  <a:schemeClr val="tx1"/>
                </a:solidFill>
                <a:latin typeface="Segoe UI Emoji" panose="020B0502040204020203" charset="0"/>
                <a:cs typeface="Segoe UI Emoji" panose="020B0502040204020203" charset="0"/>
                <a:sym typeface="+mn-ea"/>
              </a:rPr>
              <a:t>, </a:t>
            </a:r>
            <a:r>
              <a:rPr lang="en-US" dirty="0" err="1">
                <a:solidFill>
                  <a:schemeClr val="tx1"/>
                </a:solidFill>
                <a:latin typeface="Segoe UI Emoji" panose="020B0502040204020203" charset="0"/>
                <a:cs typeface="Segoe UI Emoji" panose="020B0502040204020203" charset="0"/>
                <a:sym typeface="+mn-ea"/>
              </a:rPr>
              <a:t>uRLLC</a:t>
            </a:r>
            <a:r>
              <a:rPr lang="en-US" dirty="0">
                <a:solidFill>
                  <a:schemeClr val="tx1"/>
                </a:solidFill>
                <a:latin typeface="Segoe UI Emoji" panose="020B0502040204020203" charset="0"/>
                <a:cs typeface="Segoe UI Emoji" panose="020B0502040204020203" charset="0"/>
                <a:sym typeface="+mn-ea"/>
              </a:rPr>
              <a:t>, and </a:t>
            </a:r>
            <a:r>
              <a:rPr lang="en-US" dirty="0" err="1">
                <a:solidFill>
                  <a:schemeClr val="tx1"/>
                </a:solidFill>
                <a:latin typeface="Segoe UI Emoji" panose="020B0502040204020203" charset="0"/>
                <a:cs typeface="Segoe UI Emoji" panose="020B0502040204020203" charset="0"/>
                <a:sym typeface="+mn-ea"/>
              </a:rPr>
              <a:t>mMTC</a:t>
            </a:r>
            <a:r>
              <a:rPr lang="en-US" dirty="0">
                <a:solidFill>
                  <a:schemeClr val="tx1"/>
                </a:solidFill>
                <a:latin typeface="Segoe UI Emoji" panose="020B0502040204020203" charset="0"/>
                <a:cs typeface="Segoe UI Emoji" panose="020B0502040204020203" charset="0"/>
                <a:sym typeface="+mn-ea"/>
              </a:rPr>
              <a:t> slices.</a:t>
            </a:r>
            <a:endParaRPr lang="en-US" dirty="0">
              <a:solidFill>
                <a:schemeClr val="tx1"/>
              </a:solidFill>
              <a:latin typeface="Segoe UI Emoji" panose="020B0502040204020203" charset="0"/>
              <a:cs typeface="Segoe UI Emoji" panose="020B0502040204020203" charset="0"/>
            </a:endParaRPr>
          </a:p>
          <a:p>
            <a:pPr>
              <a:lnSpc>
                <a:spcPct val="130000"/>
              </a:lnSpc>
            </a:pPr>
            <a:endParaRPr lang="en-US" dirty="0">
              <a:solidFill>
                <a:schemeClr val="tx1"/>
              </a:solidFill>
              <a:latin typeface="Segoe UI Emoji" panose="020B0502040204020203" charset="0"/>
              <a:cs typeface="Segoe UI Emoji" panose="020B0502040204020203" charset="0"/>
            </a:endParaRPr>
          </a:p>
        </p:txBody>
      </p:sp>
      <p:sp>
        <p:nvSpPr>
          <p:cNvPr id="2" name="Title 1"/>
          <p:cNvSpPr>
            <a:spLocks noGrp="1"/>
          </p:cNvSpPr>
          <p:nvPr>
            <p:ph type="title"/>
          </p:nvPr>
        </p:nvSpPr>
        <p:spPr>
          <a:xfrm>
            <a:off x="342265" y="365125"/>
            <a:ext cx="10515600" cy="1325563"/>
          </a:xfrm>
        </p:spPr>
        <p:txBody>
          <a:bodyPr/>
          <a:p>
            <a:r>
              <a:rPr lang="en-US" dirty="0">
                <a:solidFill>
                  <a:schemeClr val="tx1"/>
                </a:solidFill>
                <a:latin typeface="Segoe UI Emoji" panose="020B0502040204020203" charset="0"/>
                <a:cs typeface="Segoe UI Emoji" panose="020B0502040204020203" charset="0"/>
                <a:sym typeface="+mn-ea"/>
              </a:rPr>
              <a:t>Project objective :</a:t>
            </a:r>
            <a:endParaRPr lang="en-US"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 name="Content Placeholder 2"/>
          <p:cNvSpPr>
            <a:spLocks noGrp="1"/>
          </p:cNvSpPr>
          <p:nvPr>
            <p:ph idx="1"/>
          </p:nvPr>
        </p:nvSpPr>
        <p:spPr>
          <a:xfrm>
            <a:off x="303530" y="1539875"/>
            <a:ext cx="11511915" cy="5045710"/>
          </a:xfrm>
          <a:noFill/>
          <a:ln>
            <a:noFill/>
          </a:ln>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a:bodyPr>
          <a:p>
            <a:pPr>
              <a:lnSpc>
                <a:spcPct val="130000"/>
              </a:lnSpc>
            </a:pPr>
            <a:r>
              <a:rPr lang="en-US" dirty="0">
                <a:solidFill>
                  <a:schemeClr val="tx1"/>
                </a:solidFill>
                <a:latin typeface="Segoe UI Emoji" panose="020B0502040204020203" charset="0"/>
                <a:cs typeface="Segoe UI Emoji" panose="020B0502040204020203" charset="0"/>
                <a:sym typeface="+mn-ea"/>
              </a:rPr>
              <a:t>The inability of traditional resource management mechanisms to simultaneously meet the conflicting performance requirements of different 5G applications (</a:t>
            </a:r>
            <a:r>
              <a:rPr lang="en-US" dirty="0" err="1">
                <a:solidFill>
                  <a:schemeClr val="tx1"/>
                </a:solidFill>
                <a:latin typeface="Segoe UI Emoji" panose="020B0502040204020203" charset="0"/>
                <a:cs typeface="Segoe UI Emoji" panose="020B0502040204020203" charset="0"/>
                <a:sym typeface="+mn-ea"/>
              </a:rPr>
              <a:t>eMBB</a:t>
            </a:r>
            <a:r>
              <a:rPr lang="en-US" dirty="0">
                <a:solidFill>
                  <a:schemeClr val="tx1"/>
                </a:solidFill>
                <a:latin typeface="Segoe UI Emoji" panose="020B0502040204020203" charset="0"/>
                <a:cs typeface="Segoe UI Emoji" panose="020B0502040204020203" charset="0"/>
                <a:sym typeface="+mn-ea"/>
              </a:rPr>
              <a:t>, </a:t>
            </a:r>
            <a:r>
              <a:rPr lang="en-US" dirty="0" err="1">
                <a:solidFill>
                  <a:schemeClr val="tx1"/>
                </a:solidFill>
                <a:latin typeface="Segoe UI Emoji" panose="020B0502040204020203" charset="0"/>
                <a:cs typeface="Segoe UI Emoji" panose="020B0502040204020203" charset="0"/>
                <a:sym typeface="+mn-ea"/>
              </a:rPr>
              <a:t>uRLLC</a:t>
            </a:r>
            <a:r>
              <a:rPr lang="en-US" dirty="0">
                <a:solidFill>
                  <a:schemeClr val="tx1"/>
                </a:solidFill>
                <a:latin typeface="Segoe UI Emoji" panose="020B0502040204020203" charset="0"/>
                <a:cs typeface="Segoe UI Emoji" panose="020B0502040204020203" charset="0"/>
                <a:sym typeface="+mn-ea"/>
              </a:rPr>
              <a:t>, </a:t>
            </a:r>
            <a:r>
              <a:rPr lang="en-US" dirty="0" err="1">
                <a:solidFill>
                  <a:schemeClr val="tx1"/>
                </a:solidFill>
                <a:latin typeface="Segoe UI Emoji" panose="020B0502040204020203" charset="0"/>
                <a:cs typeface="Segoe UI Emoji" panose="020B0502040204020203" charset="0"/>
                <a:sym typeface="+mn-ea"/>
              </a:rPr>
              <a:t>mMTC</a:t>
            </a:r>
            <a:r>
              <a:rPr lang="en-US" dirty="0">
                <a:solidFill>
                  <a:schemeClr val="tx1"/>
                </a:solidFill>
                <a:latin typeface="Segoe UI Emoji" panose="020B0502040204020203" charset="0"/>
                <a:cs typeface="Segoe UI Emoji" panose="020B0502040204020203" charset="0"/>
                <a:sym typeface="+mn-ea"/>
              </a:rPr>
              <a:t>).</a:t>
            </a:r>
            <a:endParaRPr lang="en-US" dirty="0">
              <a:solidFill>
                <a:schemeClr val="tx1"/>
              </a:solidFill>
              <a:latin typeface="Segoe UI Emoji" panose="020B0502040204020203" charset="0"/>
              <a:cs typeface="Segoe UI Emoji" panose="020B0502040204020203" charset="0"/>
            </a:endParaRPr>
          </a:p>
          <a:p>
            <a:pPr>
              <a:lnSpc>
                <a:spcPct val="130000"/>
              </a:lnSpc>
            </a:pPr>
            <a:endParaRPr lang="en-US" dirty="0">
              <a:solidFill>
                <a:schemeClr val="tx1"/>
              </a:solidFill>
              <a:latin typeface="Segoe UI Emoji" panose="020B0502040204020203" charset="0"/>
              <a:cs typeface="Segoe UI Emoji" panose="020B0502040204020203" charset="0"/>
            </a:endParaRPr>
          </a:p>
        </p:txBody>
      </p:sp>
      <p:sp>
        <p:nvSpPr>
          <p:cNvPr id="2" name="Title 1"/>
          <p:cNvSpPr>
            <a:spLocks noGrp="1"/>
          </p:cNvSpPr>
          <p:nvPr>
            <p:ph type="title"/>
          </p:nvPr>
        </p:nvSpPr>
        <p:spPr>
          <a:xfrm>
            <a:off x="303530" y="90805"/>
            <a:ext cx="11267440" cy="1273810"/>
          </a:xfrm>
        </p:spPr>
        <p:txBody>
          <a:bodyPr>
            <a:normAutofit/>
          </a:bodyPr>
          <a:p>
            <a:r>
              <a:rPr lang="en-US" altLang="en-US" dirty="0">
                <a:solidFill>
                  <a:schemeClr val="tx1"/>
                </a:solidFill>
                <a:latin typeface="Segoe UI Emoji" panose="020B0502040204020203" charset="0"/>
                <a:cs typeface="Segoe UI Emoji" panose="020B0502040204020203" charset="0"/>
                <a:sym typeface="+mn-ea"/>
              </a:rPr>
              <a:t> </a:t>
            </a:r>
            <a:r>
              <a:rPr lang="en-US" altLang="en-US" dirty="0">
                <a:latin typeface="Segoe UI Emoji" panose="020B0502040204020203" charset="0"/>
                <a:cs typeface="Segoe UI Emoji" panose="020B0502040204020203" charset="0"/>
                <a:sym typeface="+mn-ea"/>
              </a:rPr>
              <a:t>project </a:t>
            </a:r>
            <a:r>
              <a:rPr lang="en-US" altLang="en-US" dirty="0">
                <a:solidFill>
                  <a:schemeClr val="tx1"/>
                </a:solidFill>
                <a:latin typeface="Segoe UI Emoji" panose="020B0502040204020203" charset="0"/>
                <a:cs typeface="Segoe UI Emoji" panose="020B0502040204020203" charset="0"/>
                <a:sym typeface="+mn-ea"/>
              </a:rPr>
              <a:t>problem</a:t>
            </a:r>
            <a:r>
              <a:rPr lang="en-US" dirty="0">
                <a:solidFill>
                  <a:schemeClr val="tx1"/>
                </a:solidFill>
                <a:latin typeface="Segoe UI Emoji" panose="020B0502040204020203" charset="0"/>
                <a:cs typeface="Segoe UI Emoji" panose="020B0502040204020203" charset="0"/>
                <a:sym typeface="+mn-ea"/>
              </a:rPr>
              <a:t> :</a:t>
            </a:r>
            <a:endParaRPr lang="en-US"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3" name="Content Placeholder 2"/>
          <p:cNvSpPr>
            <a:spLocks noGrp="1"/>
          </p:cNvSpPr>
          <p:nvPr/>
        </p:nvSpPr>
        <p:spPr>
          <a:xfrm>
            <a:off x="0" y="0"/>
            <a:ext cx="1219200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3200400" lvl="7" indent="45720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Theoretical Fundamentals</a:t>
            </a:r>
            <a:r>
              <a:rPr lang="ar-SA" altLang="en-US" sz="3600" dirty="0">
                <a:solidFill>
                  <a:schemeClr val="tx1"/>
                </a:solidFill>
                <a:latin typeface="Segoe UI Emoji" panose="020B0502040204020203" charset="0"/>
                <a:cs typeface="Segoe UI Emoji" panose="020B0502040204020203" charset="0"/>
                <a:sym typeface="+mn-ea"/>
              </a:rPr>
              <a:t>          	</a:t>
            </a:r>
            <a:r>
              <a:rPr lang="en-US" altLang="en-US" sz="3600" dirty="0">
                <a:solidFill>
                  <a:schemeClr val="tx1"/>
                </a:solidFill>
                <a:latin typeface="Segoe UI Emoji" panose="020B0502040204020203" charset="0"/>
                <a:cs typeface="Segoe UI Emoji" panose="020B0502040204020203" charset="0"/>
                <a:sym typeface="+mn-ea"/>
              </a:rPr>
              <a:t>(1/3)</a:t>
            </a:r>
            <a:endParaRPr lang="en-US" altLang="en-US" sz="3600" dirty="0">
              <a:solidFill>
                <a:schemeClr val="tx1"/>
              </a:solidFill>
              <a:latin typeface="Segoe UI Emoji" panose="020B0502040204020203" charset="0"/>
              <a:cs typeface="Segoe UI Emoji" panose="020B0502040204020203" charset="0"/>
              <a:sym typeface="+mn-ea"/>
            </a:endParaRPr>
          </a:p>
        </p:txBody>
      </p:sp>
      <p:pic>
        <p:nvPicPr>
          <p:cNvPr id="3" name="Picture 2" descr="unnamed"/>
          <p:cNvPicPr>
            <a:picLocks noChangeAspect="1"/>
          </p:cNvPicPr>
          <p:nvPr/>
        </p:nvPicPr>
        <p:blipFill>
          <a:blip r:embed="rId1"/>
          <a:stretch>
            <a:fillRect/>
          </a:stretch>
        </p:blipFill>
        <p:spPr>
          <a:xfrm>
            <a:off x="2722245" y="1381760"/>
            <a:ext cx="7221855" cy="537337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 name="Content Placeholder 2"/>
          <p:cNvSpPr>
            <a:spLocks noGrp="1"/>
          </p:cNvSpPr>
          <p:nvPr/>
        </p:nvSpPr>
        <p:spPr>
          <a:xfrm>
            <a:off x="0" y="0"/>
            <a:ext cx="12192635" cy="93472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2286000" lvl="5" indent="45720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     Theoretical Fundamentals 		      (2/3)</a:t>
            </a:r>
            <a:endParaRPr lang="en-US" altLang="en-US" sz="3600" dirty="0">
              <a:solidFill>
                <a:schemeClr val="tx1"/>
              </a:solidFill>
              <a:latin typeface="Segoe UI Emoji" panose="020B0502040204020203" charset="0"/>
              <a:cs typeface="Segoe UI Emoji" panose="020B0502040204020203" charset="0"/>
              <a:sym typeface="+mn-ea"/>
            </a:endParaRPr>
          </a:p>
        </p:txBody>
      </p:sp>
      <p:pic>
        <p:nvPicPr>
          <p:cNvPr id="2" name="Picture 1" descr="5f078d8952fd3-Picture1"/>
          <p:cNvPicPr>
            <a:picLocks noChangeAspect="1"/>
          </p:cNvPicPr>
          <p:nvPr/>
        </p:nvPicPr>
        <p:blipFill>
          <a:blip r:embed="rId1"/>
          <a:stretch>
            <a:fillRect/>
          </a:stretch>
        </p:blipFill>
        <p:spPr>
          <a:xfrm>
            <a:off x="1477645" y="1279525"/>
            <a:ext cx="10436225" cy="47015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 name="Content Placeholder 2"/>
          <p:cNvSpPr>
            <a:spLocks noGrp="1"/>
          </p:cNvSpPr>
          <p:nvPr/>
        </p:nvSpPr>
        <p:spPr>
          <a:xfrm>
            <a:off x="0" y="0"/>
            <a:ext cx="12192635" cy="93472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2286000" lvl="5" indent="45720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     Theoretical Fundamentals 		      (3/3)</a:t>
            </a:r>
            <a:endParaRPr lang="en-US" altLang="en-US" sz="3600" dirty="0">
              <a:solidFill>
                <a:schemeClr val="tx1"/>
              </a:solidFill>
              <a:latin typeface="Segoe UI Emoji" panose="020B0502040204020203" charset="0"/>
              <a:cs typeface="Segoe UI Emoji" panose="020B0502040204020203" charset="0"/>
              <a:sym typeface="+mn-ea"/>
            </a:endParaRPr>
          </a:p>
        </p:txBody>
      </p:sp>
      <p:pic>
        <p:nvPicPr>
          <p:cNvPr id="3" name="Picture 2" descr="what-is-network-function-virtualization-1024x597"/>
          <p:cNvPicPr>
            <a:picLocks noChangeAspect="1"/>
          </p:cNvPicPr>
          <p:nvPr/>
        </p:nvPicPr>
        <p:blipFill>
          <a:blip r:embed="rId1"/>
          <a:stretch>
            <a:fillRect/>
          </a:stretch>
        </p:blipFill>
        <p:spPr>
          <a:xfrm>
            <a:off x="1610360" y="1190625"/>
            <a:ext cx="8972550" cy="523113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3" name="Content Placeholder 2"/>
          <p:cNvSpPr>
            <a:spLocks noGrp="1"/>
          </p:cNvSpPr>
          <p:nvPr/>
        </p:nvSpPr>
        <p:spPr>
          <a:xfrm>
            <a:off x="3683635" y="0"/>
            <a:ext cx="589026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Literature Review      (1/3)</a:t>
            </a:r>
            <a:endParaRPr lang="en-US" altLang="en-US" sz="3600" dirty="0">
              <a:solidFill>
                <a:schemeClr val="tx1"/>
              </a:solidFill>
              <a:latin typeface="Segoe UI Emoji" panose="020B0502040204020203" charset="0"/>
              <a:cs typeface="Segoe UI Emoji" panose="020B0502040204020203" charset="0"/>
              <a:sym typeface="+mn-ea"/>
            </a:endParaRPr>
          </a:p>
        </p:txBody>
      </p:sp>
      <p:sp>
        <p:nvSpPr>
          <p:cNvPr id="2" name="Content Placeholder 2"/>
          <p:cNvSpPr>
            <a:spLocks noGrp="1"/>
          </p:cNvSpPr>
          <p:nvPr/>
        </p:nvSpPr>
        <p:spPr>
          <a:xfrm>
            <a:off x="440690" y="584200"/>
            <a:ext cx="2006600" cy="63436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400" b="1" dirty="0">
                <a:solidFill>
                  <a:schemeClr val="tx1"/>
                </a:solidFill>
                <a:latin typeface="Times New Roman" panose="02020603050405020304" pitchFamily="18" charset="0"/>
                <a:cs typeface="Times New Roman" panose="02020603050405020304" pitchFamily="18" charset="0"/>
                <a:sym typeface="+mn-ea"/>
              </a:rPr>
              <a:t>Paper 1:</a:t>
            </a:r>
            <a:endParaRPr lang="en-US" altLang="en-US" sz="2400" b="1" dirty="0">
              <a:solidFill>
                <a:schemeClr val="tx1"/>
              </a:solidFill>
              <a:latin typeface="Times New Roman" panose="02020603050405020304" pitchFamily="18" charset="0"/>
              <a:cs typeface="Times New Roman" panose="02020603050405020304" pitchFamily="18" charset="0"/>
              <a:sym typeface="+mn-ea"/>
            </a:endParaRPr>
          </a:p>
        </p:txBody>
      </p:sp>
      <p:sp>
        <p:nvSpPr>
          <p:cNvPr id="4" name="Content Placeholder 2"/>
          <p:cNvSpPr>
            <a:spLocks noGrp="1"/>
          </p:cNvSpPr>
          <p:nvPr/>
        </p:nvSpPr>
        <p:spPr>
          <a:xfrm>
            <a:off x="441325" y="1429385"/>
            <a:ext cx="9044305" cy="58420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[1] </a:t>
            </a:r>
            <a:r>
              <a:rPr lang="en-US" sz="1800" dirty="0">
                <a:solidFill>
                  <a:schemeClr val="tx1"/>
                </a:solidFill>
                <a:sym typeface="+mn-ea"/>
              </a:rPr>
              <a:t>Slice-aware resource allocation and admission control for smart factory wireless networks</a:t>
            </a:r>
            <a:endParaRPr lang="en-US" altLang="en-US" sz="1800" dirty="0">
              <a:solidFill>
                <a:schemeClr val="tx1"/>
              </a:solidFill>
              <a:latin typeface="Segoe UI Emoji" panose="020B0502040204020203" charset="0"/>
              <a:cs typeface="Segoe UI Emoji" panose="020B0502040204020203" charset="0"/>
              <a:sym typeface="+mn-ea"/>
            </a:endParaRPr>
          </a:p>
        </p:txBody>
      </p:sp>
      <p:sp>
        <p:nvSpPr>
          <p:cNvPr id="6" name="Content Placeholder 2"/>
          <p:cNvSpPr>
            <a:spLocks noGrp="1"/>
          </p:cNvSpPr>
          <p:nvPr/>
        </p:nvSpPr>
        <p:spPr>
          <a:xfrm>
            <a:off x="536575" y="2224405"/>
            <a:ext cx="11297285" cy="371983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Content:</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GB" sz="1800" dirty="0">
                <a:solidFill>
                  <a:schemeClr val="tx1"/>
                </a:solidFill>
                <a:latin typeface="Times New Roman" panose="02020603050405020304" pitchFamily="18" charset="0"/>
                <a:cs typeface="Times New Roman" panose="02020603050405020304" pitchFamily="18" charset="0"/>
                <a:sym typeface="+mn-ea"/>
              </a:rPr>
              <a:t>A framework for allocating 5G resources to three network slices (CL, URLLC, TS) in a smart factory.</a:t>
            </a:r>
            <a:r>
              <a:rPr lang="ar-SA" altLang="en-GB" sz="1800" dirty="0">
                <a:solidFill>
                  <a:schemeClr val="tx1"/>
                </a:solidFill>
                <a:latin typeface="Times New Roman" panose="02020603050405020304" pitchFamily="18" charset="0"/>
                <a:cs typeface="Times New Roman" panose="02020603050405020304" pitchFamily="18" charset="0"/>
                <a:sym typeface="+mn-ea"/>
              </a:rPr>
              <a:t>       </a:t>
            </a:r>
            <a:r>
              <a:rPr lang="en-US" sz="1800" b="1" dirty="0">
                <a:solidFill>
                  <a:schemeClr val="tx1"/>
                </a:solidFill>
                <a:latin typeface="Times New Roman" panose="02020603050405020304" pitchFamily="18" charset="0"/>
                <a:cs typeface="Times New Roman" panose="02020603050405020304" pitchFamily="18" charset="0"/>
                <a:sym typeface="+mn-ea"/>
              </a:rPr>
              <a:t>Core Principle:</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GB" sz="1800" dirty="0">
                <a:solidFill>
                  <a:schemeClr val="tx1"/>
                </a:solidFill>
                <a:sym typeface="+mn-ea"/>
              </a:rPr>
              <a:t> </a:t>
            </a:r>
            <a:endParaRPr lang="en-GB" sz="1800" dirty="0">
              <a:solidFill>
                <a:schemeClr val="tx1"/>
              </a:solidFill>
            </a:endParaRPr>
          </a:p>
          <a:p>
            <a:pPr marL="285750" indent="-285750" algn="l">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Convex optimization to allocate power and sub-channels across three slices (CL, URLLC, TS) based on QoS.</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l">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The framework ensures slice isolation by using a feedback control loop for CL slice rate adjustments and closed-form rate expressions for URLLC and TS users.</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l">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When base station power limits are exceeded, an admission control mechanism proportionally reduces  </a:t>
            </a:r>
            <a:endParaRPr lang="en-GB"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GB" sz="1800" dirty="0">
                <a:solidFill>
                  <a:schemeClr val="tx1"/>
                </a:solidFill>
                <a:latin typeface="Times New Roman" panose="02020603050405020304" pitchFamily="18" charset="0"/>
                <a:cs typeface="Times New Roman" panose="02020603050405020304" pitchFamily="18" charset="0"/>
                <a:sym typeface="+mn-ea"/>
              </a:rPr>
              <a:t>     target rates for CL users using Lagrange multipliers, while preserving critical URLLC and TS services</a:t>
            </a:r>
            <a:endParaRPr lang="en-GB" sz="1800" dirty="0">
              <a:solidFill>
                <a:schemeClr val="tx1"/>
              </a:solidFill>
              <a:latin typeface="Times New Roman" panose="02020603050405020304" pitchFamily="18" charset="0"/>
              <a:cs typeface="Times New Roman" panose="02020603050405020304" pitchFamily="18" charset="0"/>
              <a:sym typeface="+mn-ea"/>
            </a:endParaRPr>
          </a:p>
          <a:p>
            <a:pPr marL="0" indent="0" algn="l">
              <a:lnSpc>
                <a:spcPct val="130000"/>
              </a:lnSpc>
              <a:buNone/>
            </a:pPr>
            <a:endParaRPr lang="en-US" sz="1800" b="1"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Simulation Tools:</a:t>
            </a:r>
            <a:r>
              <a:rPr lang="en-US" sz="1800" dirty="0">
                <a:solidFill>
                  <a:schemeClr val="tx1"/>
                </a:solidFill>
                <a:latin typeface="Times New Roman" panose="02020603050405020304" pitchFamily="18" charset="0"/>
                <a:cs typeface="Times New Roman" panose="02020603050405020304" pitchFamily="18" charset="0"/>
                <a:sym typeface="+mn-ea"/>
              </a:rPr>
              <a:t> Custom MATLAB-based simulator.</a:t>
            </a:r>
            <a:endParaRPr lang="en-US"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8923020" y="0"/>
            <a:ext cx="3268980" cy="826770"/>
          </a:xfrm>
          <a:prstGeom prst="rect">
            <a:avLst/>
          </a:prstGeom>
          <a:noFill/>
        </p:spPr>
        <p:txBody>
          <a:bodyPr wrap="square" rtlCol="0">
            <a:noAutofit/>
          </a:bodyPr>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Content Placeholder 2"/>
          <p:cNvSpPr>
            <a:spLocks noGrp="1"/>
          </p:cNvSpPr>
          <p:nvPr/>
        </p:nvSpPr>
        <p:spPr>
          <a:xfrm>
            <a:off x="440690" y="607060"/>
            <a:ext cx="2006600" cy="63436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400" b="1" dirty="0">
                <a:solidFill>
                  <a:schemeClr val="tx1"/>
                </a:solidFill>
                <a:latin typeface="Times New Roman" panose="02020603050405020304" pitchFamily="18" charset="0"/>
                <a:cs typeface="Times New Roman" panose="02020603050405020304" pitchFamily="18" charset="0"/>
                <a:sym typeface="+mn-ea"/>
              </a:rPr>
              <a:t>Paper </a:t>
            </a:r>
            <a:r>
              <a:rPr lang="ar-SA" altLang="en-US" sz="2400" b="1" dirty="0">
                <a:solidFill>
                  <a:schemeClr val="tx1"/>
                </a:solidFill>
                <a:latin typeface="Times New Roman" panose="02020603050405020304" pitchFamily="18" charset="0"/>
                <a:cs typeface="Times New Roman" panose="02020603050405020304" pitchFamily="18" charset="0"/>
                <a:sym typeface="+mn-ea"/>
              </a:rPr>
              <a:t>2</a:t>
            </a:r>
            <a:r>
              <a:rPr lang="en-US" sz="2400" b="1" dirty="0">
                <a:solidFill>
                  <a:schemeClr val="tx1"/>
                </a:solidFill>
                <a:latin typeface="Times New Roman" panose="02020603050405020304" pitchFamily="18" charset="0"/>
                <a:cs typeface="Times New Roman" panose="02020603050405020304" pitchFamily="18" charset="0"/>
                <a:sym typeface="+mn-ea"/>
              </a:rPr>
              <a:t>:</a:t>
            </a:r>
            <a:endParaRPr lang="en-US" altLang="en-US" sz="2400" b="1" dirty="0">
              <a:solidFill>
                <a:schemeClr val="tx1"/>
              </a:solidFill>
              <a:latin typeface="Times New Roman" panose="02020603050405020304" pitchFamily="18" charset="0"/>
              <a:cs typeface="Times New Roman" panose="02020603050405020304" pitchFamily="18" charset="0"/>
              <a:sym typeface="+mn-ea"/>
            </a:endParaRPr>
          </a:p>
        </p:txBody>
      </p:sp>
      <p:sp>
        <p:nvSpPr>
          <p:cNvPr id="4" name="Content Placeholder 2"/>
          <p:cNvSpPr>
            <a:spLocks noGrp="1"/>
          </p:cNvSpPr>
          <p:nvPr/>
        </p:nvSpPr>
        <p:spPr>
          <a:xfrm>
            <a:off x="440690" y="1593215"/>
            <a:ext cx="7646035" cy="58420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800" dirty="0">
                <a:solidFill>
                  <a:schemeClr val="tx1"/>
                </a:solidFill>
                <a:latin typeface="Times New Roman" panose="02020603050405020304" pitchFamily="18" charset="0"/>
                <a:cs typeface="Times New Roman" panose="02020603050405020304" pitchFamily="18" charset="0"/>
                <a:sym typeface="+mn-ea"/>
              </a:rPr>
              <a:t>[2] Scalability Analysis of 5G-TSN Applications in Indoor Factory Settings. </a:t>
            </a: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6" name="Content Placeholder 2"/>
          <p:cNvSpPr>
            <a:spLocks noGrp="1"/>
          </p:cNvSpPr>
          <p:nvPr/>
        </p:nvSpPr>
        <p:spPr>
          <a:xfrm>
            <a:off x="441325" y="2512695"/>
            <a:ext cx="11297285" cy="429450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Content: </a:t>
            </a:r>
            <a:br>
              <a:rPr lang="en-GB" sz="1800" dirty="0">
                <a:solidFill>
                  <a:schemeClr val="tx1"/>
                </a:solidFill>
                <a:latin typeface="Times New Roman" panose="02020603050405020304" pitchFamily="18" charset="0"/>
                <a:cs typeface="Times New Roman" panose="02020603050405020304" pitchFamily="18" charset="0"/>
                <a:sym typeface="+mn-ea"/>
              </a:rPr>
            </a:br>
            <a:r>
              <a:rPr lang="en-GB" sz="1800" dirty="0">
                <a:solidFill>
                  <a:schemeClr val="tx1"/>
                </a:solidFill>
                <a:latin typeface="Times New Roman" panose="02020603050405020304" pitchFamily="18" charset="0"/>
                <a:cs typeface="Times New Roman" panose="02020603050405020304" pitchFamily="18" charset="0"/>
                <a:sym typeface="+mn-ea"/>
              </a:rPr>
              <a:t>This paper establishes a performance baseline for integrated 5G-TSN in wireless industrial applications. It evaluates scalability by assessing whether 5G-TSN can maintain low latency and high reliability as the number of connected devices (AGVs) increases across different indoor factory environments.</a:t>
            </a:r>
            <a:endParaRPr lang="en-US" sz="1800" b="1" dirty="0">
              <a:solidFill>
                <a:schemeClr val="tx1"/>
              </a:solidFill>
              <a:latin typeface="Times New Roman" panose="02020603050405020304" pitchFamily="18" charset="0"/>
              <a:cs typeface="Times New Roman" panose="02020603050405020304" pitchFamily="18" charset="0"/>
            </a:endParaRPr>
          </a:p>
          <a:p>
            <a:pPr algn="l"/>
            <a:r>
              <a:rPr lang="en-US" sz="1800" b="1" dirty="0">
                <a:solidFill>
                  <a:schemeClr val="tx1"/>
                </a:solidFill>
                <a:latin typeface="Times New Roman" panose="02020603050405020304" pitchFamily="18" charset="0"/>
                <a:cs typeface="Times New Roman" panose="02020603050405020304" pitchFamily="18" charset="0"/>
                <a:sym typeface="+mn-ea"/>
              </a:rPr>
              <a:t>Principle:</a:t>
            </a:r>
            <a:r>
              <a:rPr lang="en-US" sz="1800" dirty="0">
                <a:solidFill>
                  <a:schemeClr val="tx1"/>
                </a:solidFill>
                <a:latin typeface="Times New Roman" panose="02020603050405020304" pitchFamily="18" charset="0"/>
                <a:cs typeface="Times New Roman" panose="02020603050405020304" pitchFamily="18" charset="0"/>
                <a:sym typeface="+mn-ea"/>
              </a:rPr>
              <a:t>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The study integrates 5G (URLLC) with TSN's deterministic Ethernet standards to create a unified wireless network.</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just">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It models realistic factory clutter and interference using 3GPP specifications to test time-critical traffic (control, video, best-effort) under strict priority queuing.</a:t>
            </a:r>
            <a:endParaRPr lang="en-GB" sz="1800" dirty="0">
              <a:solidFill>
                <a:schemeClr val="tx1"/>
              </a:solidFill>
              <a:latin typeface="Times New Roman" panose="02020603050405020304" pitchFamily="18" charset="0"/>
              <a:cs typeface="Times New Roman" panose="02020603050405020304" pitchFamily="18" charset="0"/>
            </a:endParaRPr>
          </a:p>
          <a:p>
            <a:pPr marL="285750" indent="-285750" algn="just">
              <a:buFontTx/>
              <a:buChar char="-"/>
            </a:pPr>
            <a:r>
              <a:rPr lang="en-GB" sz="1800" dirty="0">
                <a:solidFill>
                  <a:schemeClr val="tx1"/>
                </a:solidFill>
                <a:latin typeface="Times New Roman" panose="02020603050405020304" pitchFamily="18" charset="0"/>
                <a:cs typeface="Times New Roman" panose="02020603050405020304" pitchFamily="18" charset="0"/>
                <a:sym typeface="+mn-ea"/>
              </a:rPr>
              <a:t>The principle is to evaluate if this hybrid network can guarantee bounded delays for sensitive applications as device density scales.</a:t>
            </a:r>
            <a:r>
              <a:rPr lang="ar-SA" altLang="en-GB" sz="1800" dirty="0">
                <a:solidFill>
                  <a:schemeClr val="tx1"/>
                </a:solidFill>
                <a:latin typeface="Times New Roman" panose="02020603050405020304" pitchFamily="18" charset="0"/>
                <a:cs typeface="Times New Roman" panose="02020603050405020304" pitchFamily="18" charset="0"/>
                <a:sym typeface="+mn-ea"/>
              </a:rPr>
              <a:t> </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sym typeface="+mn-ea"/>
              </a:rPr>
              <a:t>Simulation Tools:</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US" sz="1800" dirty="0" err="1">
                <a:solidFill>
                  <a:schemeClr val="tx1"/>
                </a:solidFill>
                <a:latin typeface="Times New Roman" panose="02020603050405020304" pitchFamily="18" charset="0"/>
                <a:cs typeface="Times New Roman" panose="02020603050405020304" pitchFamily="18" charset="0"/>
                <a:sym typeface="+mn-ea"/>
              </a:rPr>
              <a:t>OMNeT</a:t>
            </a:r>
            <a:r>
              <a:rPr lang="en-US" sz="1800" dirty="0">
                <a:solidFill>
                  <a:schemeClr val="tx1"/>
                </a:solidFill>
                <a:latin typeface="Times New Roman" panose="02020603050405020304" pitchFamily="18" charset="0"/>
                <a:cs typeface="Times New Roman" panose="02020603050405020304" pitchFamily="18" charset="0"/>
                <a:sym typeface="+mn-ea"/>
              </a:rPr>
              <a:t>++ simulation framework.</a:t>
            </a: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13" name="Content Placeholder 2"/>
          <p:cNvSpPr>
            <a:spLocks noGrp="1"/>
          </p:cNvSpPr>
          <p:nvPr/>
        </p:nvSpPr>
        <p:spPr>
          <a:xfrm>
            <a:off x="3683635" y="0"/>
            <a:ext cx="589026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Literature Review      (2/3)</a:t>
            </a:r>
            <a:endParaRPr lang="en-US" altLang="en-US" sz="36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Content Placeholder 2"/>
          <p:cNvSpPr>
            <a:spLocks noGrp="1"/>
          </p:cNvSpPr>
          <p:nvPr/>
        </p:nvSpPr>
        <p:spPr>
          <a:xfrm>
            <a:off x="440690" y="372110"/>
            <a:ext cx="2006600" cy="63436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400" b="1" dirty="0">
                <a:solidFill>
                  <a:schemeClr val="tx1"/>
                </a:solidFill>
                <a:latin typeface="Times New Roman" panose="02020603050405020304" pitchFamily="18" charset="0"/>
                <a:cs typeface="Times New Roman" panose="02020603050405020304" pitchFamily="18" charset="0"/>
                <a:sym typeface="+mn-ea"/>
              </a:rPr>
              <a:t>Paper </a:t>
            </a:r>
            <a:r>
              <a:rPr lang="ar-SA" altLang="en-US" sz="2400" b="1" dirty="0">
                <a:solidFill>
                  <a:schemeClr val="tx1"/>
                </a:solidFill>
                <a:latin typeface="Times New Roman" panose="02020603050405020304" pitchFamily="18" charset="0"/>
                <a:cs typeface="Times New Roman" panose="02020603050405020304" pitchFamily="18" charset="0"/>
                <a:sym typeface="+mn-ea"/>
              </a:rPr>
              <a:t>3</a:t>
            </a:r>
            <a:r>
              <a:rPr lang="en-US" sz="2400" b="1" dirty="0">
                <a:solidFill>
                  <a:schemeClr val="tx1"/>
                </a:solidFill>
                <a:latin typeface="Times New Roman" panose="02020603050405020304" pitchFamily="18" charset="0"/>
                <a:cs typeface="Times New Roman" panose="02020603050405020304" pitchFamily="18" charset="0"/>
                <a:sym typeface="+mn-ea"/>
              </a:rPr>
              <a:t>:</a:t>
            </a:r>
            <a:endParaRPr lang="en-US" altLang="en-US" sz="2400" b="1" dirty="0">
              <a:solidFill>
                <a:schemeClr val="tx1"/>
              </a:solidFill>
              <a:latin typeface="Times New Roman" panose="02020603050405020304" pitchFamily="18" charset="0"/>
              <a:cs typeface="Times New Roman" panose="02020603050405020304" pitchFamily="18" charset="0"/>
              <a:sym typeface="+mn-ea"/>
            </a:endParaRPr>
          </a:p>
        </p:txBody>
      </p:sp>
      <p:sp>
        <p:nvSpPr>
          <p:cNvPr id="4" name="Content Placeholder 2"/>
          <p:cNvSpPr>
            <a:spLocks noGrp="1"/>
          </p:cNvSpPr>
          <p:nvPr/>
        </p:nvSpPr>
        <p:spPr>
          <a:xfrm>
            <a:off x="441325" y="1323340"/>
            <a:ext cx="7721600" cy="58420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[3] “</a:t>
            </a:r>
            <a:r>
              <a:rPr lang="en-US" sz="1800" dirty="0">
                <a:solidFill>
                  <a:schemeClr val="tx1"/>
                </a:solidFill>
                <a:latin typeface="Times New Roman" panose="02020603050405020304" pitchFamily="18" charset="0"/>
                <a:cs typeface="Times New Roman" panose="02020603050405020304" pitchFamily="18" charset="0"/>
                <a:sym typeface="+mn-ea"/>
              </a:rPr>
              <a:t>A survey on beyond 5G network slicing for smart cities applications.”</a:t>
            </a:r>
            <a:endParaRPr lang="en-US"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6" name="Content Placeholder 2"/>
          <p:cNvSpPr>
            <a:spLocks noGrp="1"/>
          </p:cNvSpPr>
          <p:nvPr/>
        </p:nvSpPr>
        <p:spPr>
          <a:xfrm>
            <a:off x="536575" y="2224405"/>
            <a:ext cx="11297285" cy="453009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l">
              <a:lnSpc>
                <a:spcPct val="130000"/>
              </a:lnSpc>
              <a:buNone/>
            </a:pPr>
            <a:r>
              <a:rPr lang="en-GB" sz="1800" b="1" dirty="0">
                <a:solidFill>
                  <a:schemeClr val="tx1"/>
                </a:solidFill>
                <a:latin typeface="Times New Roman" panose="02020603050405020304" pitchFamily="18" charset="0"/>
                <a:cs typeface="Times New Roman" panose="02020603050405020304" pitchFamily="18" charset="0"/>
                <a:sym typeface="+mn-ea"/>
              </a:rPr>
              <a:t>Content:</a:t>
            </a:r>
            <a:br>
              <a:rPr lang="en-GB" sz="1800" dirty="0">
                <a:solidFill>
                  <a:schemeClr val="tx1"/>
                </a:solidFill>
                <a:latin typeface="Times New Roman" panose="02020603050405020304" pitchFamily="18" charset="0"/>
                <a:cs typeface="Times New Roman" panose="02020603050405020304" pitchFamily="18" charset="0"/>
                <a:sym typeface="+mn-ea"/>
              </a:rPr>
            </a:br>
            <a:r>
              <a:rPr lang="en-GB" sz="1800" dirty="0">
                <a:solidFill>
                  <a:schemeClr val="tx1"/>
                </a:solidFill>
                <a:latin typeface="Times New Roman" panose="02020603050405020304" pitchFamily="18" charset="0"/>
                <a:cs typeface="Times New Roman" panose="02020603050405020304" pitchFamily="18" charset="0"/>
                <a:sym typeface="+mn-ea"/>
              </a:rPr>
              <a:t>This paper reviews how Beyond 5G networks can use network slicing to create separate virtual networks for different smart city applications like emergency response, smart transportation, and video surveillance, each with its own performance requirements.</a:t>
            </a:r>
            <a:endParaRPr lang="en-GB"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GB" sz="1800" b="1" dirty="0">
                <a:solidFill>
                  <a:schemeClr val="tx1"/>
                </a:solidFill>
                <a:latin typeface="Times New Roman" panose="02020603050405020304" pitchFamily="18" charset="0"/>
                <a:cs typeface="Times New Roman" panose="02020603050405020304" pitchFamily="18" charset="0"/>
                <a:sym typeface="+mn-ea"/>
              </a:rPr>
              <a:t>Principle:</a:t>
            </a:r>
            <a:endParaRPr lang="en-GB" sz="1800" b="1"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GB" sz="1800" dirty="0">
                <a:solidFill>
                  <a:schemeClr val="tx1"/>
                </a:solidFill>
                <a:latin typeface="Times New Roman" panose="02020603050405020304" pitchFamily="18" charset="0"/>
                <a:cs typeface="Times New Roman" panose="02020603050405020304" pitchFamily="18" charset="0"/>
                <a:sym typeface="+mn-ea"/>
              </a:rPr>
              <a:t>The paper discusses network slicing through practical use cases including:</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The first 5G smart patrol car in Taiwan.</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Telecom's connected ambulances for emergency healthcare services in Taiwan</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Smart building with IoT  with over 28,000 sensors for managing meeting rooms, and working spaces.</a:t>
            </a:r>
            <a:endParaRPr lang="en-GB" sz="1800" dirty="0">
              <a:solidFill>
                <a:schemeClr val="tx1"/>
              </a:solidFill>
              <a:latin typeface="Times New Roman" panose="02020603050405020304" pitchFamily="18" charset="0"/>
              <a:cs typeface="Times New Roman" panose="02020603050405020304" pitchFamily="18" charset="0"/>
            </a:endParaRPr>
          </a:p>
          <a:p>
            <a:pPr marL="177800" indent="-177800">
              <a:buFont typeface="Arial" panose="020B0604020202020204" pitchFamily="34" charset="0"/>
              <a:buChar char="•"/>
            </a:pPr>
            <a:r>
              <a:rPr lang="en-GB" sz="1800" dirty="0">
                <a:solidFill>
                  <a:schemeClr val="tx1"/>
                </a:solidFill>
                <a:latin typeface="Times New Roman" panose="02020603050405020304" pitchFamily="18" charset="0"/>
                <a:cs typeface="Times New Roman" panose="02020603050405020304" pitchFamily="18" charset="0"/>
                <a:sym typeface="+mn-ea"/>
              </a:rPr>
              <a:t>Smart traffic management to optimize traffic flow and reduce congestion in Miami</a:t>
            </a:r>
            <a:endParaRPr lang="en-GB" sz="1800" dirty="0">
              <a:solidFill>
                <a:schemeClr val="tx1"/>
              </a:solidFill>
              <a:latin typeface="Times New Roman" panose="02020603050405020304" pitchFamily="18" charset="0"/>
              <a:cs typeface="Times New Roman" panose="02020603050405020304" pitchFamily="18" charset="0"/>
            </a:endParaRPr>
          </a:p>
          <a:p>
            <a:pPr marL="0" indent="0" algn="l">
              <a:lnSpc>
                <a:spcPct val="130000"/>
              </a:lnSpc>
              <a:buNone/>
            </a:pPr>
            <a:r>
              <a:rPr lang="en-US" sz="1800" b="1" dirty="0">
                <a:solidFill>
                  <a:schemeClr val="tx1"/>
                </a:solidFill>
                <a:latin typeface="Times New Roman" panose="02020603050405020304" pitchFamily="18" charset="0"/>
                <a:cs typeface="Times New Roman" panose="02020603050405020304" pitchFamily="18" charset="0"/>
                <a:sym typeface="+mn-ea"/>
              </a:rPr>
              <a:t>Simulation Tools:</a:t>
            </a:r>
            <a:r>
              <a:rPr lang="en-US" sz="1800" dirty="0">
                <a:solidFill>
                  <a:schemeClr val="tx1"/>
                </a:solidFill>
                <a:latin typeface="Times New Roman" panose="02020603050405020304" pitchFamily="18" charset="0"/>
                <a:cs typeface="Times New Roman" panose="02020603050405020304" pitchFamily="18" charset="0"/>
                <a:sym typeface="+mn-ea"/>
              </a:rPr>
              <a:t> </a:t>
            </a:r>
            <a:r>
              <a:rPr lang="en-GB" sz="1800" dirty="0">
                <a:solidFill>
                  <a:schemeClr val="tx1"/>
                </a:solidFill>
                <a:latin typeface="Times New Roman" panose="02020603050405020304" pitchFamily="18" charset="0"/>
                <a:cs typeface="Times New Roman" panose="02020603050405020304" pitchFamily="18" charset="0"/>
                <a:sym typeface="+mn-ea"/>
              </a:rPr>
              <a:t> Mosaic5G, </a:t>
            </a:r>
            <a:r>
              <a:rPr lang="en-GB" sz="1800" dirty="0" err="1">
                <a:solidFill>
                  <a:schemeClr val="tx1"/>
                </a:solidFill>
                <a:latin typeface="Times New Roman" panose="02020603050405020304" pitchFamily="18" charset="0"/>
                <a:cs typeface="Times New Roman" panose="02020603050405020304" pitchFamily="18" charset="0"/>
                <a:sym typeface="+mn-ea"/>
              </a:rPr>
              <a:t>OpenAirInterface</a:t>
            </a:r>
            <a:r>
              <a:rPr lang="en-GB" sz="1800" dirty="0">
                <a:solidFill>
                  <a:schemeClr val="tx1"/>
                </a:solidFill>
                <a:latin typeface="Times New Roman" panose="02020603050405020304" pitchFamily="18" charset="0"/>
                <a:cs typeface="Times New Roman" panose="02020603050405020304" pitchFamily="18" charset="0"/>
                <a:sym typeface="+mn-ea"/>
              </a:rPr>
              <a:t>, and 5G Test Network (5GTN)</a:t>
            </a:r>
            <a:endParaRPr lang="en-GB" altLang="en-US" sz="1800" dirty="0">
              <a:solidFill>
                <a:schemeClr val="tx1"/>
              </a:solidFill>
              <a:latin typeface="Times New Roman" panose="02020603050405020304" pitchFamily="18" charset="0"/>
              <a:cs typeface="Times New Roman" panose="02020603050405020304" pitchFamily="18" charset="0"/>
              <a:sym typeface="+mn-ea"/>
            </a:endParaRPr>
          </a:p>
        </p:txBody>
      </p:sp>
      <p:sp>
        <p:nvSpPr>
          <p:cNvPr id="13" name="Content Placeholder 2"/>
          <p:cNvSpPr>
            <a:spLocks noGrp="1"/>
          </p:cNvSpPr>
          <p:nvPr/>
        </p:nvSpPr>
        <p:spPr>
          <a:xfrm>
            <a:off x="3683635" y="0"/>
            <a:ext cx="5890260" cy="71818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3600" dirty="0">
                <a:solidFill>
                  <a:schemeClr val="tx1"/>
                </a:solidFill>
                <a:latin typeface="Segoe UI Emoji" panose="020B0502040204020203" charset="0"/>
                <a:cs typeface="Segoe UI Emoji" panose="020B0502040204020203" charset="0"/>
                <a:sym typeface="+mn-ea"/>
              </a:rPr>
              <a:t>Literature Review      (3/3)</a:t>
            </a:r>
            <a:endParaRPr lang="en-US" altLang="en-US" sz="36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3" name="Content Placeholder 2"/>
          <p:cNvSpPr>
            <a:spLocks noGrp="1"/>
          </p:cNvSpPr>
          <p:nvPr>
            <p:ph idx="1"/>
          </p:nvPr>
        </p:nvSpPr>
        <p:spPr>
          <a:xfrm>
            <a:off x="3862705" y="0"/>
            <a:ext cx="4465320" cy="599440"/>
          </a:xfr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a:normAutofit fontScale="90000"/>
          </a:bodyPr>
          <a:p>
            <a:pPr marL="0" indent="0" algn="ctr">
              <a:lnSpc>
                <a:spcPct val="130000"/>
              </a:lnSpc>
              <a:buNone/>
            </a:pPr>
            <a:r>
              <a:rPr lang="en-US" altLang="en-GB" dirty="0">
                <a:solidFill>
                  <a:schemeClr val="tx1"/>
                </a:solidFill>
                <a:latin typeface="Segoe UI Emoji" panose="020B0502040204020203" charset="0"/>
                <a:cs typeface="Segoe UI Emoji" panose="020B0502040204020203" charset="0"/>
                <a:sym typeface="+mn-ea"/>
              </a:rPr>
              <a:t>Project Execution Stages</a:t>
            </a:r>
            <a:r>
              <a:rPr lang="en-US" altLang="en-US" dirty="0">
                <a:solidFill>
                  <a:schemeClr val="tx1"/>
                </a:solidFill>
                <a:latin typeface="Segoe UI Emoji" panose="020B0502040204020203" charset="0"/>
                <a:cs typeface="Segoe UI Emoji" panose="020B0502040204020203" charset="0"/>
                <a:sym typeface="+mn-ea"/>
              </a:rPr>
              <a:t>:</a:t>
            </a:r>
            <a:endParaRPr lang="en-US" altLang="en-US" dirty="0">
              <a:solidFill>
                <a:schemeClr val="tx1"/>
              </a:solidFill>
              <a:latin typeface="Segoe UI Emoji" panose="020B0502040204020203" charset="0"/>
              <a:cs typeface="Segoe UI Emoji" panose="020B0502040204020203" charset="0"/>
            </a:endParaRPr>
          </a:p>
        </p:txBody>
      </p:sp>
      <p:sp>
        <p:nvSpPr>
          <p:cNvPr id="7" name="Content Placeholder 2"/>
          <p:cNvSpPr>
            <a:spLocks noGrp="1"/>
          </p:cNvSpPr>
          <p:nvPr/>
        </p:nvSpPr>
        <p:spPr>
          <a:xfrm>
            <a:off x="0" y="1426210"/>
            <a:ext cx="5563870" cy="204025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rmAutofit fontScale="25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8000" b="1" dirty="0">
                <a:solidFill>
                  <a:schemeClr val="tx1"/>
                </a:solidFill>
                <a:latin typeface="Segoe UI Emoji" panose="020B0502040204020203" charset="0"/>
                <a:cs typeface="Segoe UI Emoji" panose="020B0502040204020203" charset="0"/>
              </a:rPr>
              <a:t>Phase 1:</a:t>
            </a:r>
            <a:r>
              <a:rPr lang="en-US" altLang="en-US" sz="7200" dirty="0">
                <a:solidFill>
                  <a:schemeClr val="tx1"/>
                </a:solidFill>
                <a:latin typeface="Segoe UI Emoji" panose="020B0502040204020203" charset="0"/>
                <a:cs typeface="Segoe UI Emoji" panose="020B0502040204020203" charset="0"/>
              </a:rPr>
              <a:t> </a:t>
            </a:r>
            <a:r>
              <a:rPr lang="en-US" altLang="en-US" sz="7200" b="1" dirty="0">
                <a:solidFill>
                  <a:schemeClr val="tx1"/>
                </a:solidFill>
                <a:latin typeface="Segoe UI Emoji" panose="020B0502040204020203" charset="0"/>
                <a:cs typeface="Segoe UI Emoji" panose="020B0502040204020203" charset="0"/>
              </a:rPr>
              <a:t>Study &amp; Planning</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Literature review of 5G architecture and network slicing</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Study OMNeT++ and Simu5G capabilities</a:t>
            </a:r>
            <a:r>
              <a:rPr lang="ar-SA" altLang="en-US" sz="7200" dirty="0">
                <a:solidFill>
                  <a:schemeClr val="tx1"/>
                </a:solidFill>
                <a:latin typeface="Segoe UI Emoji" panose="020B0502040204020203" charset="0"/>
                <a:cs typeface="Segoe UI Emoji" panose="020B0502040204020203" charset="0"/>
              </a:rPr>
              <a:t> </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endParaRPr lang="en-US" altLang="en-US" sz="7200" dirty="0">
              <a:solidFill>
                <a:schemeClr val="tx1"/>
              </a:solidFill>
              <a:latin typeface="Segoe UI Emoji" panose="020B0502040204020203" charset="0"/>
              <a:cs typeface="Segoe UI Emoji" panose="020B0502040204020203" charset="0"/>
            </a:endParaRPr>
          </a:p>
        </p:txBody>
      </p:sp>
      <p:sp>
        <p:nvSpPr>
          <p:cNvPr id="8" name="Content Placeholder 2"/>
          <p:cNvSpPr>
            <a:spLocks noGrp="1"/>
          </p:cNvSpPr>
          <p:nvPr/>
        </p:nvSpPr>
        <p:spPr>
          <a:xfrm>
            <a:off x="7090410" y="1350645"/>
            <a:ext cx="5101590" cy="211582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1700" dirty="0">
                <a:solidFill>
                  <a:schemeClr val="tx1"/>
                </a:solidFill>
                <a:sym typeface="+mn-ea"/>
              </a:rPr>
              <a:t> </a:t>
            </a:r>
            <a:r>
              <a:rPr lang="en-US" sz="2000" b="1" dirty="0">
                <a:solidFill>
                  <a:schemeClr val="tx1"/>
                </a:solidFill>
                <a:sym typeface="+mn-ea"/>
              </a:rPr>
              <a:t>Phase 2: </a:t>
            </a:r>
            <a:r>
              <a:rPr lang="en-US" sz="1800" b="1" dirty="0">
                <a:solidFill>
                  <a:schemeClr val="tx1"/>
                </a:solidFill>
                <a:sym typeface="+mn-ea"/>
              </a:rPr>
              <a:t>Design</a:t>
            </a:r>
            <a:endParaRPr lang="en-US" sz="1800" b="1" dirty="0">
              <a:solidFill>
                <a:schemeClr val="tx1"/>
              </a:solidFill>
            </a:endParaRPr>
          </a:p>
          <a:p>
            <a:pPr marL="0" indent="0" algn="ctr">
              <a:lnSpc>
                <a:spcPct val="130000"/>
              </a:lnSpc>
              <a:buNone/>
            </a:pPr>
            <a:r>
              <a:rPr lang="en-US" sz="1800" dirty="0">
                <a:solidFill>
                  <a:schemeClr val="tx1"/>
                </a:solidFill>
                <a:sym typeface="+mn-ea"/>
              </a:rPr>
              <a:t>- Define simulation scenarios (</a:t>
            </a:r>
            <a:r>
              <a:rPr lang="en-US" sz="1800" dirty="0" err="1">
                <a:solidFill>
                  <a:schemeClr val="tx1"/>
                </a:solidFill>
                <a:sym typeface="+mn-ea"/>
              </a:rPr>
              <a:t>eMBB</a:t>
            </a:r>
            <a:r>
              <a:rPr lang="en-US" sz="1800" dirty="0">
                <a:solidFill>
                  <a:schemeClr val="tx1"/>
                </a:solidFill>
                <a:sym typeface="+mn-ea"/>
              </a:rPr>
              <a:t>, URLLC, </a:t>
            </a:r>
            <a:r>
              <a:rPr lang="en-US" sz="1800" dirty="0" err="1">
                <a:solidFill>
                  <a:schemeClr val="tx1"/>
                </a:solidFill>
                <a:sym typeface="+mn-ea"/>
              </a:rPr>
              <a:t>mMTC</a:t>
            </a:r>
            <a:r>
              <a:rPr lang="en-US" sz="1800" dirty="0">
                <a:solidFill>
                  <a:schemeClr val="tx1"/>
                </a:solidFill>
                <a:sym typeface="+mn-ea"/>
              </a:rPr>
              <a:t>) - Design network topology and components</a:t>
            </a:r>
            <a:endParaRPr lang="en-US" sz="1800" dirty="0">
              <a:solidFill>
                <a:schemeClr val="tx1"/>
              </a:solidFill>
            </a:endParaRPr>
          </a:p>
          <a:p>
            <a:pPr marL="0" indent="0" algn="ctr">
              <a:lnSpc>
                <a:spcPct val="130000"/>
              </a:lnSpc>
              <a:buNone/>
            </a:pPr>
            <a:r>
              <a:rPr lang="en-US" sz="1800" dirty="0">
                <a:solidFill>
                  <a:schemeClr val="tx1"/>
                </a:solidFill>
                <a:sym typeface="+mn-ea"/>
              </a:rPr>
              <a:t>- Define performance metrics (throughput, latency)</a:t>
            </a:r>
            <a:endParaRPr lang="en-US" altLang="en-US" sz="1800" dirty="0">
              <a:solidFill>
                <a:schemeClr val="tx1"/>
              </a:solidFill>
              <a:latin typeface="Segoe UI Emoji" panose="020B0502040204020203" charset="0"/>
              <a:cs typeface="Segoe UI Emoji" panose="020B0502040204020203" charset="0"/>
              <a:sym typeface="+mn-ea"/>
            </a:endParaRPr>
          </a:p>
        </p:txBody>
      </p:sp>
      <p:sp>
        <p:nvSpPr>
          <p:cNvPr id="4" name="Content Placeholder 2"/>
          <p:cNvSpPr>
            <a:spLocks noGrp="1"/>
          </p:cNvSpPr>
          <p:nvPr/>
        </p:nvSpPr>
        <p:spPr>
          <a:xfrm>
            <a:off x="3429635" y="4293235"/>
            <a:ext cx="5795010" cy="246443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2000" b="1" dirty="0">
                <a:solidFill>
                  <a:schemeClr val="tx1"/>
                </a:solidFill>
                <a:latin typeface="Segoe UI Emoji" panose="020B0502040204020203" charset="0"/>
                <a:cs typeface="Segoe UI Emoji" panose="020B0502040204020203" charset="0"/>
                <a:sym typeface="+mn-ea"/>
              </a:rPr>
              <a:t> Phase 3: </a:t>
            </a:r>
            <a:r>
              <a:rPr lang="en-US" altLang="en-US" sz="1800" b="1" dirty="0">
                <a:solidFill>
                  <a:schemeClr val="tx1"/>
                </a:solidFill>
                <a:latin typeface="Segoe UI Emoji" panose="020B0502040204020203" charset="0"/>
                <a:cs typeface="Segoe UI Emoji" panose="020B0502040204020203" charset="0"/>
                <a:sym typeface="+mn-ea"/>
              </a:rPr>
              <a:t>Implementation</a:t>
            </a:r>
            <a:endParaRPr lang="en-US" altLang="en-US" sz="1800" b="1"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Install OMNeT++ with Simu5G/INET frameworks</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Build network model in NED files</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Configure traffic patterns and applications</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Implement network slicing </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endParaRPr lang="en-US" altLang="en-US" sz="18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 name="Content Placeholder 2"/>
          <p:cNvSpPr>
            <a:spLocks noGrp="1"/>
          </p:cNvSpPr>
          <p:nvPr/>
        </p:nvSpPr>
        <p:spPr>
          <a:xfrm>
            <a:off x="34290" y="877570"/>
            <a:ext cx="3837940" cy="255143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rmAutofit fontScale="25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8000" b="1" dirty="0">
                <a:solidFill>
                  <a:schemeClr val="tx1"/>
                </a:solidFill>
                <a:latin typeface="Segoe UI Emoji" panose="020B0502040204020203" charset="0"/>
                <a:cs typeface="Segoe UI Emoji" panose="020B0502040204020203" charset="0"/>
              </a:rPr>
              <a:t> Phase 4:</a:t>
            </a:r>
            <a:r>
              <a:rPr lang="en-US" altLang="en-US" sz="7200" dirty="0">
                <a:solidFill>
                  <a:schemeClr val="tx1"/>
                </a:solidFill>
                <a:latin typeface="Segoe UI Emoji" panose="020B0502040204020203" charset="0"/>
                <a:cs typeface="Segoe UI Emoji" panose="020B0502040204020203" charset="0"/>
              </a:rPr>
              <a:t> </a:t>
            </a:r>
            <a:r>
              <a:rPr lang="en-US" altLang="en-US" sz="7200" b="1" dirty="0">
                <a:solidFill>
                  <a:schemeClr val="tx1"/>
                </a:solidFill>
                <a:latin typeface="Segoe UI Emoji" panose="020B0502040204020203" charset="0"/>
                <a:cs typeface="Segoe UI Emoji" panose="020B0502040204020203" charset="0"/>
              </a:rPr>
              <a:t>Simulation</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Run baseline simulations</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Perform parameter variations</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Collect and export results</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r>
              <a:rPr lang="en-US" altLang="en-US" sz="7200" dirty="0">
                <a:solidFill>
                  <a:schemeClr val="tx1"/>
                </a:solidFill>
                <a:latin typeface="Segoe UI Emoji" panose="020B0502040204020203" charset="0"/>
                <a:cs typeface="Segoe UI Emoji" panose="020B0502040204020203" charset="0"/>
              </a:rPr>
              <a:t> </a:t>
            </a:r>
            <a:endParaRPr lang="en-US" altLang="en-US" sz="7200" dirty="0">
              <a:solidFill>
                <a:schemeClr val="tx1"/>
              </a:solidFill>
              <a:latin typeface="Segoe UI Emoji" panose="020B0502040204020203" charset="0"/>
              <a:cs typeface="Segoe UI Emoji" panose="020B0502040204020203" charset="0"/>
            </a:endParaRPr>
          </a:p>
          <a:p>
            <a:pPr marL="0" indent="0" algn="ctr">
              <a:lnSpc>
                <a:spcPct val="130000"/>
              </a:lnSpc>
              <a:buNone/>
            </a:pPr>
            <a:endParaRPr lang="en-US" altLang="en-US" sz="7200" dirty="0">
              <a:solidFill>
                <a:schemeClr val="tx1"/>
              </a:solidFill>
              <a:latin typeface="Segoe UI Emoji" panose="020B0502040204020203" charset="0"/>
              <a:cs typeface="Segoe UI Emoji" panose="020B0502040204020203" charset="0"/>
            </a:endParaRPr>
          </a:p>
        </p:txBody>
      </p:sp>
      <p:sp>
        <p:nvSpPr>
          <p:cNvPr id="8" name="Content Placeholder 2"/>
          <p:cNvSpPr>
            <a:spLocks noGrp="1"/>
          </p:cNvSpPr>
          <p:nvPr/>
        </p:nvSpPr>
        <p:spPr>
          <a:xfrm>
            <a:off x="7130415" y="877570"/>
            <a:ext cx="4194175" cy="173228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sz="2000" b="1" dirty="0">
                <a:solidFill>
                  <a:schemeClr val="tx1"/>
                </a:solidFill>
                <a:sym typeface="+mn-ea"/>
              </a:rPr>
              <a:t> Phase 5:</a:t>
            </a:r>
            <a:r>
              <a:rPr lang="en-US" sz="1700" b="1" dirty="0">
                <a:solidFill>
                  <a:schemeClr val="tx1"/>
                </a:solidFill>
                <a:sym typeface="+mn-ea"/>
              </a:rPr>
              <a:t> Analysis</a:t>
            </a:r>
            <a:endParaRPr lang="en-US" sz="1700" b="1" dirty="0">
              <a:solidFill>
                <a:schemeClr val="tx1"/>
              </a:solidFill>
            </a:endParaRPr>
          </a:p>
          <a:p>
            <a:pPr marL="0" indent="0" algn="ctr">
              <a:lnSpc>
                <a:spcPct val="130000"/>
              </a:lnSpc>
              <a:buNone/>
            </a:pPr>
            <a:r>
              <a:rPr lang="en-US" sz="1700" dirty="0">
                <a:solidFill>
                  <a:schemeClr val="tx1"/>
                </a:solidFill>
                <a:sym typeface="+mn-ea"/>
              </a:rPr>
              <a:t>- Generate graphs and compare results</a:t>
            </a:r>
            <a:endParaRPr lang="en-US" sz="1700" dirty="0">
              <a:solidFill>
                <a:schemeClr val="tx1"/>
              </a:solidFill>
            </a:endParaRPr>
          </a:p>
          <a:p>
            <a:pPr marL="0" indent="0" algn="ctr">
              <a:lnSpc>
                <a:spcPct val="130000"/>
              </a:lnSpc>
              <a:buNone/>
            </a:pPr>
            <a:r>
              <a:rPr lang="en-US" sz="1700" dirty="0">
                <a:solidFill>
                  <a:schemeClr val="tx1"/>
                </a:solidFill>
                <a:sym typeface="+mn-ea"/>
              </a:rPr>
              <a:t>- Validate against theoretical requirements</a:t>
            </a:r>
            <a:endParaRPr lang="en-US" altLang="en-US" sz="1700" dirty="0">
              <a:solidFill>
                <a:schemeClr val="tx1"/>
              </a:solidFill>
              <a:latin typeface="Segoe UI Emoji" panose="020B0502040204020203" charset="0"/>
              <a:cs typeface="Segoe UI Emoji" panose="020B0502040204020203" charset="0"/>
              <a:sym typeface="+mn-ea"/>
            </a:endParaRPr>
          </a:p>
        </p:txBody>
      </p:sp>
      <p:sp>
        <p:nvSpPr>
          <p:cNvPr id="13" name="Content Placeholder 2"/>
          <p:cNvSpPr>
            <a:spLocks noGrp="1"/>
          </p:cNvSpPr>
          <p:nvPr/>
        </p:nvSpPr>
        <p:spPr>
          <a:xfrm>
            <a:off x="4321810" y="4126230"/>
            <a:ext cx="3548380" cy="173228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sz="2000" b="1" dirty="0">
                <a:solidFill>
                  <a:schemeClr val="tx1"/>
                </a:solidFill>
                <a:latin typeface="Segoe UI Emoji" panose="020B0502040204020203" charset="0"/>
                <a:cs typeface="Segoe UI Emoji" panose="020B0502040204020203" charset="0"/>
                <a:sym typeface="+mn-ea"/>
              </a:rPr>
              <a:t> Phase 6:</a:t>
            </a:r>
            <a:r>
              <a:rPr lang="en-US" altLang="en-US" sz="1800" dirty="0">
                <a:solidFill>
                  <a:schemeClr val="tx1"/>
                </a:solidFill>
                <a:latin typeface="Segoe UI Emoji" panose="020B0502040204020203" charset="0"/>
                <a:cs typeface="Segoe UI Emoji" panose="020B0502040204020203" charset="0"/>
                <a:sym typeface="+mn-ea"/>
              </a:rPr>
              <a:t> </a:t>
            </a:r>
            <a:r>
              <a:rPr lang="en-US" altLang="en-US" sz="1800" b="1" dirty="0">
                <a:solidFill>
                  <a:schemeClr val="tx1"/>
                </a:solidFill>
                <a:latin typeface="Segoe UI Emoji" panose="020B0502040204020203" charset="0"/>
                <a:cs typeface="Segoe UI Emoji" panose="020B0502040204020203" charset="0"/>
                <a:sym typeface="+mn-ea"/>
              </a:rPr>
              <a:t>Documentation</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Write project report</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r>
              <a:rPr lang="en-US" altLang="en-US" sz="1800" dirty="0">
                <a:solidFill>
                  <a:schemeClr val="tx1"/>
                </a:solidFill>
                <a:latin typeface="Segoe UI Emoji" panose="020B0502040204020203" charset="0"/>
                <a:cs typeface="Segoe UI Emoji" panose="020B0502040204020203" charset="0"/>
                <a:sym typeface="+mn-ea"/>
              </a:rPr>
              <a:t>         - Prepare final presentation</a:t>
            </a:r>
            <a:endParaRPr lang="en-US" altLang="en-US" sz="1800" dirty="0">
              <a:solidFill>
                <a:schemeClr val="tx1"/>
              </a:solidFill>
              <a:latin typeface="Segoe UI Emoji" panose="020B0502040204020203" charset="0"/>
              <a:cs typeface="Segoe UI Emoji" panose="020B0502040204020203" charset="0"/>
              <a:sym typeface="+mn-ea"/>
            </a:endParaRPr>
          </a:p>
          <a:p>
            <a:pPr marL="0" indent="0" algn="ctr">
              <a:lnSpc>
                <a:spcPct val="130000"/>
              </a:lnSpc>
              <a:buNone/>
            </a:pPr>
            <a:endParaRPr lang="en-US" altLang="en-US" sz="1800"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 name="Content Placeholder 2"/>
          <p:cNvSpPr>
            <a:spLocks noGrp="1"/>
          </p:cNvSpPr>
          <p:nvPr/>
        </p:nvSpPr>
        <p:spPr>
          <a:xfrm>
            <a:off x="466090" y="1327150"/>
            <a:ext cx="11260455" cy="4872355"/>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rmAutofit fontScale="4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457200" algn="just">
              <a:spcAft>
                <a:spcPts val="800"/>
              </a:spcAft>
            </a:pPr>
            <a:r>
              <a:rPr lang="en-US" sz="7200" dirty="0">
                <a:solidFill>
                  <a:schemeClr val="tx1"/>
                </a:solidFill>
                <a:sym typeface="+mn-ea"/>
              </a:rPr>
              <a:t>[1] </a:t>
            </a:r>
            <a:r>
              <a:rPr lang="en-US" sz="7200" dirty="0" err="1">
                <a:solidFill>
                  <a:schemeClr val="tx1"/>
                </a:solidFill>
                <a:sym typeface="+mn-ea"/>
              </a:rPr>
              <a:t>Ochonu</a:t>
            </a:r>
            <a:r>
              <a:rPr lang="en-US" sz="7200" dirty="0">
                <a:solidFill>
                  <a:schemeClr val="tx1"/>
                </a:solidFill>
                <a:sym typeface="+mn-ea"/>
              </a:rPr>
              <a:t>, Regina, and Josep Vidal. "Slice-aware resource allocation and admission control for smart factory wireless networks." </a:t>
            </a:r>
            <a:r>
              <a:rPr lang="en-US" sz="7200" i="1" dirty="0">
                <a:solidFill>
                  <a:schemeClr val="tx1"/>
                </a:solidFill>
                <a:sym typeface="+mn-ea"/>
              </a:rPr>
              <a:t>2024 IEEE 100th Vehicular Technology Conference (VTC2024-Fall)</a:t>
            </a:r>
            <a:r>
              <a:rPr lang="en-US" sz="7200" dirty="0">
                <a:solidFill>
                  <a:schemeClr val="tx1"/>
                </a:solidFill>
                <a:sym typeface="+mn-ea"/>
              </a:rPr>
              <a:t>. IEEE, 2024.</a:t>
            </a:r>
            <a:endParaRPr lang="en-US" sz="7200" dirty="0">
              <a:solidFill>
                <a:schemeClr val="tx1"/>
              </a:solidFill>
            </a:endParaRPr>
          </a:p>
          <a:p>
            <a:pPr marL="457200" algn="just">
              <a:spcAft>
                <a:spcPts val="800"/>
              </a:spcAft>
            </a:pPr>
            <a:r>
              <a:rPr lang="en-US" sz="7200" dirty="0">
                <a:solidFill>
                  <a:schemeClr val="tx1"/>
                </a:solidFill>
                <a:latin typeface="Calibri" panose="020F0502020204030204" charset="0"/>
                <a:ea typeface="Calibri" panose="020F0502020204030204" charset="0"/>
                <a:cs typeface="Calibri" panose="020F0502020204030204" charset="0"/>
                <a:sym typeface="+mn-ea"/>
              </a:rPr>
              <a:t>[2] </a:t>
            </a:r>
            <a:r>
              <a:rPr lang="en-US" sz="7200" dirty="0" err="1">
                <a:solidFill>
                  <a:schemeClr val="tx1"/>
                </a:solidFill>
                <a:latin typeface="Calibri" panose="020F0502020204030204" charset="0"/>
                <a:cs typeface="Calibri" panose="020F0502020204030204" charset="0"/>
                <a:sym typeface="+mn-ea"/>
              </a:rPr>
              <a:t>Zanbouri</a:t>
            </a:r>
            <a:r>
              <a:rPr lang="en-US" sz="7200" dirty="0">
                <a:solidFill>
                  <a:schemeClr val="tx1"/>
                </a:solidFill>
                <a:latin typeface="Calibri" panose="020F0502020204030204" charset="0"/>
                <a:cs typeface="Calibri" panose="020F0502020204030204" charset="0"/>
                <a:sym typeface="+mn-ea"/>
              </a:rPr>
              <a:t>, Kouros, Md Noor-A-Rahim, and Dirk Pesch. "Scalability Analysis of 5G-TSN Applications in Indoor Factory Settings." </a:t>
            </a:r>
            <a:r>
              <a:rPr lang="en-US" sz="7200" i="1" dirty="0">
                <a:solidFill>
                  <a:schemeClr val="tx1"/>
                </a:solidFill>
                <a:latin typeface="Calibri" panose="020F0502020204030204" charset="0"/>
                <a:cs typeface="Calibri" panose="020F0502020204030204" charset="0"/>
                <a:sym typeface="+mn-ea"/>
              </a:rPr>
              <a:t>2025 IEEE Wireless Communications and Networking Conference (WCNC)</a:t>
            </a:r>
            <a:r>
              <a:rPr lang="en-US" sz="7200" dirty="0">
                <a:solidFill>
                  <a:schemeClr val="tx1"/>
                </a:solidFill>
                <a:latin typeface="Calibri" panose="020F0502020204030204" charset="0"/>
                <a:cs typeface="Calibri" panose="020F0502020204030204" charset="0"/>
                <a:sym typeface="+mn-ea"/>
              </a:rPr>
              <a:t>. IEEE, 2025.</a:t>
            </a:r>
            <a:endParaRPr lang="en-US" sz="7200" dirty="0">
              <a:solidFill>
                <a:schemeClr val="tx1"/>
              </a:solidFill>
              <a:latin typeface="Calibri" panose="020F0502020204030204" charset="0"/>
              <a:cs typeface="Calibri" panose="020F0502020204030204" charset="0"/>
            </a:endParaRPr>
          </a:p>
          <a:p>
            <a:pPr marL="457200" algn="just">
              <a:spcAft>
                <a:spcPts val="800"/>
              </a:spcAft>
            </a:pPr>
            <a:r>
              <a:rPr lang="en-US" sz="7200" dirty="0">
                <a:solidFill>
                  <a:schemeClr val="tx1"/>
                </a:solidFill>
                <a:latin typeface="Calibri" panose="020F0502020204030204" charset="0"/>
                <a:ea typeface="Calibri" panose="020F0502020204030204" charset="0"/>
                <a:cs typeface="Calibri" panose="020F0502020204030204" charset="0"/>
                <a:sym typeface="+mn-ea"/>
              </a:rPr>
              <a:t>[3] </a:t>
            </a:r>
            <a:r>
              <a:rPr lang="en-US" sz="7200" dirty="0">
                <a:solidFill>
                  <a:schemeClr val="tx1"/>
                </a:solidFill>
                <a:latin typeface="Calibri" panose="020F0502020204030204" charset="0"/>
                <a:cs typeface="Calibri" panose="020F0502020204030204" charset="0"/>
                <a:sym typeface="+mn-ea"/>
              </a:rPr>
              <a:t>Rafique, Wajid, et al. "A survey on beyond 5g network slicing for smart cities applications." </a:t>
            </a:r>
            <a:r>
              <a:rPr lang="en-US" sz="7200" i="1" dirty="0">
                <a:solidFill>
                  <a:schemeClr val="tx1"/>
                </a:solidFill>
                <a:latin typeface="Calibri" panose="020F0502020204030204" charset="0"/>
                <a:cs typeface="Calibri" panose="020F0502020204030204" charset="0"/>
                <a:sym typeface="+mn-ea"/>
              </a:rPr>
              <a:t>IEEE Communications Surveys &amp; Tutorials</a:t>
            </a:r>
            <a:r>
              <a:rPr lang="en-US" sz="7200" dirty="0">
                <a:solidFill>
                  <a:schemeClr val="tx1"/>
                </a:solidFill>
                <a:latin typeface="Calibri" panose="020F0502020204030204" charset="0"/>
                <a:cs typeface="Calibri" panose="020F0502020204030204" charset="0"/>
                <a:sym typeface="+mn-ea"/>
              </a:rPr>
              <a:t> 27.1 (2024): 595-628.</a:t>
            </a:r>
            <a:endParaRPr lang="en-US" sz="7200" dirty="0">
              <a:solidFill>
                <a:schemeClr val="tx1"/>
              </a:solidFill>
              <a:latin typeface="Calibri" panose="020F0502020204030204" charset="0"/>
              <a:cs typeface="Calibri" panose="020F0502020204030204" charset="0"/>
            </a:endParaRPr>
          </a:p>
          <a:p>
            <a:pPr marL="457200" algn="just">
              <a:spcAft>
                <a:spcPts val="800"/>
              </a:spcAft>
            </a:pPr>
            <a:endParaRPr lang="en-US" altLang="en-US" sz="7200" dirty="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4951095" y="0"/>
            <a:ext cx="2868295" cy="646430"/>
          </a:xfrm>
          <a:prstGeom prst="rect">
            <a:avLst/>
          </a:prstGeom>
          <a:noFill/>
          <a:effectLst>
            <a:glow rad="63500">
              <a:srgbClr val="2A3441">
                <a:alpha val="40000"/>
              </a:srgbClr>
            </a:glow>
            <a:outerShdw blurRad="50800" dist="38100" dir="2700000" algn="tl" rotWithShape="0">
              <a:srgbClr val="3B3B3B">
                <a:alpha val="40000"/>
              </a:srgbClr>
            </a:outerShdw>
            <a:reflection blurRad="6350" stA="52000" endA="300" endPos="14000" dir="5400000" sy="-100000" algn="bl" rotWithShape="0"/>
            <a:softEdge rad="114300"/>
          </a:effectLst>
          <a:scene3d>
            <a:camera prst="orthographicFront">
              <a:rot lat="0" lon="0" rev="0"/>
            </a:camera>
            <a:lightRig rig="threePt" dir="t"/>
          </a:scene3d>
        </p:spPr>
        <p:style>
          <a:lnRef idx="2">
            <a:schemeClr val="accent1"/>
          </a:lnRef>
          <a:fillRef idx="2">
            <a:schemeClr val="accent1"/>
          </a:fillRef>
          <a:effectRef idx="0">
            <a:srgbClr val="FFFFFF"/>
          </a:effectRef>
          <a:fontRef idx="minor">
            <a:schemeClr val="lt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lnSpc>
                <a:spcPct val="130000"/>
              </a:lnSpc>
              <a:buNone/>
            </a:pPr>
            <a:r>
              <a:rPr lang="en-US" altLang="en-US" dirty="0">
                <a:solidFill>
                  <a:schemeClr val="tx1"/>
                </a:solidFill>
                <a:latin typeface="Segoe UI Emoji" panose="020B0502040204020203" charset="0"/>
                <a:cs typeface="Segoe UI Emoji" panose="020B0502040204020203" charset="0"/>
                <a:sym typeface="+mn-ea"/>
              </a:rPr>
              <a:t>References</a:t>
            </a:r>
            <a:endParaRPr lang="en-US" altLang="en-US" dirty="0">
              <a:solidFill>
                <a:schemeClr val="tx1"/>
              </a:solidFill>
              <a:latin typeface="Segoe UI Emoji" panose="020B0502040204020203" charset="0"/>
              <a:cs typeface="Segoe UI Emoji" panose="020B0502040204020203" charset="0"/>
              <a:sym typeface="+mn-e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4756</Words>
  <Application>WPS Presentation</Application>
  <PresentationFormat>Widescreen</PresentationFormat>
  <Paragraphs>127</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Segoe UI Emoji</vt:lpstr>
      <vt:lpstr>Times New Roman</vt:lpstr>
      <vt:lpstr>Calibri</vt:lpstr>
      <vt:lpstr>Microsoft YaHei</vt:lpstr>
      <vt:lpstr>Arial Unicode MS</vt:lpstr>
      <vt:lpstr>Calibri Light</vt:lpstr>
      <vt:lpstr>Office Theme</vt:lpstr>
      <vt:lpstr>Syrian Private University faculty of Artificial Intelligence Engineering  Telecommunication Engineering</vt:lpstr>
      <vt:lpstr>OUTLINE: </vt:lpstr>
      <vt:lpstr>Project objective :</vt:lpstr>
      <vt:lpstr> project problem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ALAA</dc:creator>
  <cp:lastModifiedBy>ALAA</cp:lastModifiedBy>
  <cp:revision>21</cp:revision>
  <dcterms:created xsi:type="dcterms:W3CDTF">2025-07-23T00:59:00Z</dcterms:created>
  <dcterms:modified xsi:type="dcterms:W3CDTF">2026-04-11T20:10:19Z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CBA524C58EB54D2B9A0ED31F7D598A3C_11</vt:lpwstr>
  </property>
  <property fmtid="{D5CDD505-2E9C-101B-9397-08002B2CF9AE}" pid="3" name="KSOProductBuildVer">
    <vt:lpwstr>1033-12.1.0.25830</vt:lpwstr>
  </property>
</Properties>
</file>